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FF23B9-5790-4DCA-BC50-853CE55D46FA}">
          <p14:sldIdLst>
            <p14:sldId id="256"/>
            <p14:sldId id="269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Untitled Section" id="{D8698DF0-E2CA-4071-8AC9-4410F12F3BB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ika Yadav" userId="d6ff2797858b0cb4" providerId="LiveId" clId="{B664A81A-579A-40E8-9DEF-D64BF217BE55}"/>
    <pc:docChg chg="undo custSel modSld addSection modSection">
      <pc:chgData name="Anshika Yadav" userId="d6ff2797858b0cb4" providerId="LiveId" clId="{B664A81A-579A-40E8-9DEF-D64BF217BE55}" dt="2026-09-05T20:14:42.923" v="75" actId="14100"/>
      <pc:docMkLst>
        <pc:docMk/>
      </pc:docMkLst>
      <pc:sldChg chg="addSp delSp modSp mod">
        <pc:chgData name="Anshika Yadav" userId="d6ff2797858b0cb4" providerId="LiveId" clId="{B664A81A-579A-40E8-9DEF-D64BF217BE55}" dt="2026-09-05T20:14:16.715" v="74" actId="14100"/>
        <pc:sldMkLst>
          <pc:docMk/>
          <pc:sldMk cId="0" sldId="261"/>
        </pc:sldMkLst>
        <pc:picChg chg="add mod">
          <ac:chgData name="Anshika Yadav" userId="d6ff2797858b0cb4" providerId="LiveId" clId="{B664A81A-579A-40E8-9DEF-D64BF217BE55}" dt="2026-09-05T20:14:16.715" v="74" actId="14100"/>
          <ac:picMkLst>
            <pc:docMk/>
            <pc:sldMk cId="0" sldId="261"/>
            <ac:picMk id="7" creationId="{044C5164-F528-4078-6198-D37C98A38BAB}"/>
          </ac:picMkLst>
        </pc:picChg>
        <pc:picChg chg="del">
          <ac:chgData name="Anshika Yadav" userId="d6ff2797858b0cb4" providerId="LiveId" clId="{B664A81A-579A-40E8-9DEF-D64BF217BE55}" dt="2026-09-05T20:13:47.734" v="69" actId="478"/>
          <ac:picMkLst>
            <pc:docMk/>
            <pc:sldMk cId="0" sldId="261"/>
            <ac:picMk id="49" creationId="{DFEFC935-49F2-0F64-552B-ABC29A918200}"/>
          </ac:picMkLst>
        </pc:picChg>
      </pc:sldChg>
      <pc:sldChg chg="modSp mod">
        <pc:chgData name="Anshika Yadav" userId="d6ff2797858b0cb4" providerId="LiveId" clId="{B664A81A-579A-40E8-9DEF-D64BF217BE55}" dt="2026-09-05T20:14:42.923" v="75" actId="14100"/>
        <pc:sldMkLst>
          <pc:docMk/>
          <pc:sldMk cId="0" sldId="262"/>
        </pc:sldMkLst>
        <pc:spChg chg="mod">
          <ac:chgData name="Anshika Yadav" userId="d6ff2797858b0cb4" providerId="LiveId" clId="{B664A81A-579A-40E8-9DEF-D64BF217BE55}" dt="2026-09-05T20:14:42.923" v="75" actId="14100"/>
          <ac:spMkLst>
            <pc:docMk/>
            <pc:sldMk cId="0" sldId="262"/>
            <ac:spMk id="30" creationId="{00000000-0000-0000-0000-000000000000}"/>
          </ac:spMkLst>
        </pc:spChg>
      </pc:sldChg>
      <pc:sldChg chg="delSp modSp mod">
        <pc:chgData name="Anshika Yadav" userId="d6ff2797858b0cb4" providerId="LiveId" clId="{B664A81A-579A-40E8-9DEF-D64BF217BE55}" dt="2026-09-01T11:14:19.338" v="21" actId="20577"/>
        <pc:sldMkLst>
          <pc:docMk/>
          <pc:sldMk cId="0" sldId="269"/>
        </pc:sldMkLst>
        <pc:spChg chg="mod">
          <ac:chgData name="Anshika Yadav" userId="d6ff2797858b0cb4" providerId="LiveId" clId="{B664A81A-579A-40E8-9DEF-D64BF217BE55}" dt="2026-09-01T11:14:19.338" v="21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4:19.840" v="6" actId="107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4:23.577" v="7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45.997" v="17" actId="107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4:43.630" v="9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20.697" v="14" actId="107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07.291" v="11" actId="107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27.711" v="15" actId="107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34.542" v="16" actId="1076"/>
          <ac:spMkLst>
            <pc:docMk/>
            <pc:sldMk cId="0" sldId="269"/>
            <ac:spMk id="29" creationId="{00000000-0000-0000-0000-000000000000}"/>
          </ac:spMkLst>
        </pc:spChg>
      </pc:sldChg>
      <pc:sldChg chg="addSp delSp modSp mod">
        <pc:chgData name="Anshika Yadav" userId="d6ff2797858b0cb4" providerId="LiveId" clId="{B664A81A-579A-40E8-9DEF-D64BF217BE55}" dt="2026-09-05T20:12:07.531" v="68" actId="1076"/>
        <pc:sldMkLst>
          <pc:docMk/>
          <pc:sldMk cId="0" sldId="270"/>
        </pc:sldMkLst>
        <pc:spChg chg="mod">
          <ac:chgData name="Anshika Yadav" userId="d6ff2797858b0cb4" providerId="LiveId" clId="{B664A81A-579A-40E8-9DEF-D64BF217BE55}" dt="2026-09-05T20:11:55.492" v="66" actId="1076"/>
          <ac:spMkLst>
            <pc:docMk/>
            <pc:sldMk cId="0" sldId="270"/>
            <ac:spMk id="12" creationId="{B3AC2153-4DFA-A7DF-DC9A-CECD8A00FF2B}"/>
          </ac:spMkLst>
        </pc:spChg>
        <pc:spChg chg="mod">
          <ac:chgData name="Anshika Yadav" userId="d6ff2797858b0cb4" providerId="LiveId" clId="{B664A81A-579A-40E8-9DEF-D64BF217BE55}" dt="2026-09-05T20:12:07.531" v="68" actId="1076"/>
          <ac:spMkLst>
            <pc:docMk/>
            <pc:sldMk cId="0" sldId="270"/>
            <ac:spMk id="19" creationId="{71C0DECF-0CB6-E9B5-A7CA-C71C16AC8460}"/>
          </ac:spMkLst>
        </pc:spChg>
        <pc:picChg chg="add del mod">
          <ac:chgData name="Anshika Yadav" userId="d6ff2797858b0cb4" providerId="LiveId" clId="{B664A81A-579A-40E8-9DEF-D64BF217BE55}" dt="2026-09-05T20:06:37.761" v="27" actId="478"/>
          <ac:picMkLst>
            <pc:docMk/>
            <pc:sldMk cId="0" sldId="270"/>
            <ac:picMk id="6" creationId="{EFEF2403-0353-21C0-C7EA-65296F17BE67}"/>
          </ac:picMkLst>
        </pc:picChg>
        <pc:picChg chg="add del mod">
          <ac:chgData name="Anshika Yadav" userId="d6ff2797858b0cb4" providerId="LiveId" clId="{B664A81A-579A-40E8-9DEF-D64BF217BE55}" dt="2026-09-05T20:07:34.921" v="35" actId="478"/>
          <ac:picMkLst>
            <pc:docMk/>
            <pc:sldMk cId="0" sldId="270"/>
            <ac:picMk id="8" creationId="{6A0723C6-8EDE-A254-57CB-50C3381E6E59}"/>
          </ac:picMkLst>
        </pc:picChg>
        <pc:picChg chg="add del mod">
          <ac:chgData name="Anshika Yadav" userId="d6ff2797858b0cb4" providerId="LiveId" clId="{B664A81A-579A-40E8-9DEF-D64BF217BE55}" dt="2026-09-05T20:07:34.921" v="35" actId="478"/>
          <ac:picMkLst>
            <pc:docMk/>
            <pc:sldMk cId="0" sldId="270"/>
            <ac:picMk id="10" creationId="{FE4349AF-ECDD-8982-7359-E7949236385C}"/>
          </ac:picMkLst>
        </pc:picChg>
        <pc:picChg chg="del">
          <ac:chgData name="Anshika Yadav" userId="d6ff2797858b0cb4" providerId="LiveId" clId="{B664A81A-579A-40E8-9DEF-D64BF217BE55}" dt="2026-09-05T20:06:20.226" v="23" actId="478"/>
          <ac:picMkLst>
            <pc:docMk/>
            <pc:sldMk cId="0" sldId="270"/>
            <ac:picMk id="14" creationId="{E4DF1310-2D4C-D514-B468-28E3286F8B2B}"/>
          </ac:picMkLst>
        </pc:picChg>
        <pc:picChg chg="add del mod">
          <ac:chgData name="Anshika Yadav" userId="d6ff2797858b0cb4" providerId="LiveId" clId="{B664A81A-579A-40E8-9DEF-D64BF217BE55}" dt="2026-09-05T20:07:34.921" v="35" actId="478"/>
          <ac:picMkLst>
            <pc:docMk/>
            <pc:sldMk cId="0" sldId="270"/>
            <ac:picMk id="15" creationId="{E302945F-9F94-B1C3-7C8D-461196477C60}"/>
          </ac:picMkLst>
        </pc:picChg>
        <pc:picChg chg="del">
          <ac:chgData name="Anshika Yadav" userId="d6ff2797858b0cb4" providerId="LiveId" clId="{B664A81A-579A-40E8-9DEF-D64BF217BE55}" dt="2026-09-05T20:06:21.755" v="24" actId="478"/>
          <ac:picMkLst>
            <pc:docMk/>
            <pc:sldMk cId="0" sldId="270"/>
            <ac:picMk id="16" creationId="{C4985167-4754-5D75-0AD8-1CB356B3C803}"/>
          </ac:picMkLst>
        </pc:picChg>
        <pc:picChg chg="del">
          <ac:chgData name="Anshika Yadav" userId="d6ff2797858b0cb4" providerId="LiveId" clId="{B664A81A-579A-40E8-9DEF-D64BF217BE55}" dt="2026-09-05T20:06:23.329" v="25" actId="478"/>
          <ac:picMkLst>
            <pc:docMk/>
            <pc:sldMk cId="0" sldId="270"/>
            <ac:picMk id="18" creationId="{691BECEB-7452-8C29-829F-9344F6DD0449}"/>
          </ac:picMkLst>
        </pc:picChg>
        <pc:picChg chg="mod">
          <ac:chgData name="Anshika Yadav" userId="d6ff2797858b0cb4" providerId="LiveId" clId="{B664A81A-579A-40E8-9DEF-D64BF217BE55}" dt="2026-09-05T19:54:42.986" v="22" actId="1076"/>
          <ac:picMkLst>
            <pc:docMk/>
            <pc:sldMk cId="0" sldId="270"/>
            <ac:picMk id="20" creationId="{00000000-0000-0000-0000-000000000000}"/>
          </ac:picMkLst>
        </pc:picChg>
        <pc:picChg chg="add mod">
          <ac:chgData name="Anshika Yadav" userId="d6ff2797858b0cb4" providerId="LiveId" clId="{B664A81A-579A-40E8-9DEF-D64BF217BE55}" dt="2026-09-05T20:11:32.701" v="63" actId="14100"/>
          <ac:picMkLst>
            <pc:docMk/>
            <pc:sldMk cId="0" sldId="270"/>
            <ac:picMk id="21" creationId="{C0DEAD01-BBA1-2E4A-45CD-4ECA32C28444}"/>
          </ac:picMkLst>
        </pc:picChg>
        <pc:picChg chg="add mod">
          <ac:chgData name="Anshika Yadav" userId="d6ff2797858b0cb4" providerId="LiveId" clId="{B664A81A-579A-40E8-9DEF-D64BF217BE55}" dt="2026-09-05T20:11:35.622" v="64" actId="14100"/>
          <ac:picMkLst>
            <pc:docMk/>
            <pc:sldMk cId="0" sldId="270"/>
            <ac:picMk id="23" creationId="{0E6B2C1D-3FEC-1569-2C2E-97CB0017D4D6}"/>
          </ac:picMkLst>
        </pc:picChg>
        <pc:picChg chg="add del mod">
          <ac:chgData name="Anshika Yadav" userId="d6ff2797858b0cb4" providerId="LiveId" clId="{B664A81A-579A-40E8-9DEF-D64BF217BE55}" dt="2026-09-05T20:10:13.050" v="54" actId="478"/>
          <ac:picMkLst>
            <pc:docMk/>
            <pc:sldMk cId="0" sldId="270"/>
            <ac:picMk id="25" creationId="{146BF4A3-621B-072C-88EA-54B3BD918526}"/>
          </ac:picMkLst>
        </pc:picChg>
        <pc:picChg chg="add del mod">
          <ac:chgData name="Anshika Yadav" userId="d6ff2797858b0cb4" providerId="LiveId" clId="{B664A81A-579A-40E8-9DEF-D64BF217BE55}" dt="2026-09-05T20:10:59.282" v="56" actId="478"/>
          <ac:picMkLst>
            <pc:docMk/>
            <pc:sldMk cId="0" sldId="270"/>
            <ac:picMk id="27" creationId="{CA098AE5-9471-0019-EA25-A492EC42C886}"/>
          </ac:picMkLst>
        </pc:picChg>
        <pc:picChg chg="add mod">
          <ac:chgData name="Anshika Yadav" userId="d6ff2797858b0cb4" providerId="LiveId" clId="{B664A81A-579A-40E8-9DEF-D64BF217BE55}" dt="2026-09-05T20:11:38.601" v="65" actId="14100"/>
          <ac:picMkLst>
            <pc:docMk/>
            <pc:sldMk cId="0" sldId="270"/>
            <ac:picMk id="29" creationId="{8B0113FB-FCF8-8CCA-3814-E923131586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github.com/Lalitha-2824/SMART-URBAN-MOBILITY-AND-TRAFFIC-INTELLIGENCE-DASHBOARD-GROUP-1.github.io/tree/main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58368"/>
            <a:ext cx="128016" cy="128016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0392" y="658368"/>
            <a:ext cx="128016" cy="128016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0704" y="658368"/>
            <a:ext cx="128016" cy="128016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URBAN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DBE6F1"/>
                </a:solidFill>
                <a:latin typeface="Aptos"/>
              </a:rPr>
              <a:t>Smart Urban Mobility &amp; Traffic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Infosys _Smart Urban Mobility and Traffic Intelligence Dashboard Group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309" y="3931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BCCDDD"/>
                </a:solidFill>
                <a:latin typeface="Aptos"/>
              </a:rPr>
              <a:t>Bengaluru  •  Multimodal Analytics  •  ETL  •  MySQL  •  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846320"/>
            <a:ext cx="1828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WAREHUSE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80760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BCCDDD"/>
                </a:solidFill>
                <a:latin typeface="Aptos"/>
              </a:rPr>
              <a:t> </a:t>
            </a:r>
            <a:endParaRPr sz="1200" b="0" dirty="0">
              <a:solidFill>
                <a:srgbClr val="BCCDDD"/>
              </a:solidFill>
              <a:latin typeface="Apto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748B828-4CE4-5287-A1BF-9A78B334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114" y="555782"/>
            <a:ext cx="2114006" cy="1593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22B49"/>
                </a:solidFill>
                <a:latin typeface="Aptos"/>
              </a:rPr>
              <a:t>Team Roles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5E6A77"/>
                </a:solidFill>
                <a:latin typeface="Aptos"/>
              </a:rPr>
              <a:t>Clear ownership across engineering, analytics and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9074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300" b="1" dirty="0">
                <a:solidFill>
                  <a:srgbClr val="5E6A77"/>
                </a:solidFill>
                <a:latin typeface="Aptos"/>
              </a:rPr>
              <a:t>02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8580" cy="10789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Abhishek Yadav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Data Engineer
ETL • Data Warehouse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68580" cy="10789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Afsha Shaik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3911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Geospatial Analyst
Maps • spatial analysis •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74320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743200"/>
            <a:ext cx="68580" cy="10789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Anubha Mittal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6499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Micromobility &amp; Equity Analyst
Cycling • MAI • accessibility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069" y="2722465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5790" y="2718000"/>
            <a:ext cx="68580" cy="1078992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1381" y="2905424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Bysani Sree Lalitha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257496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BI Lead / Project Manager
Dashboard integration • coordination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8789" y="4178999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209695"/>
            <a:ext cx="68580" cy="1078992"/>
          </a:xfrm>
          <a:prstGeom prst="rect">
            <a:avLst/>
          </a:prstGeom>
          <a:solidFill>
            <a:srgbClr val="12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" y="4231475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All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16738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Cross-functional
Validation • testing • final delivery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69280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19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687568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9D9D"/>
                </a:solidFill>
                <a:latin typeface="Aptos"/>
              </a:rPr>
              <a:t>Python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5669280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347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74519" y="5687568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47CD3"/>
                </a:solidFill>
                <a:latin typeface="Aptos"/>
              </a:rPr>
              <a:t>Pandas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43350" y="5687568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EF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86200" y="5741997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EF8569"/>
                </a:solidFill>
                <a:latin typeface="Aptos"/>
              </a:rPr>
              <a:t>MySQL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06341" y="5691051"/>
            <a:ext cx="100584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19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57750" y="5705856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199D9D"/>
                </a:solidFill>
                <a:latin typeface="Aptos"/>
              </a:rPr>
              <a:t>Power 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48940" y="5669280"/>
            <a:ext cx="82296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EF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34640" y="5705857"/>
            <a:ext cx="822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F8569"/>
                </a:solidFill>
                <a:latin typeface="Aptos"/>
              </a:rPr>
              <a:t>APIs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Project Vision &amp;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E6A77"/>
                </a:solidFill>
                <a:latin typeface="Aptos"/>
              </a:rPr>
              <a:t>One analytics environment for understanding how Bengaluru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3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8580" cy="425196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Mobility data is fragmented across transit, ride-hailing, cycling, weather, traffic and demographic sources. Without standardization, cross-modal analysis is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8580" cy="425196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21992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Urban Pulse integrates multimodal datasets into a common data model, then exposes operational and strategic insights through Power BI.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68580" cy="425196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21992"/>
            <a:ext cx="30175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Stakeholders can monitor demand, reliability, accessibility, mobility equity, bottlenecks and future mobility trends in one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6080760"/>
            <a:ext cx="402336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347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69080" y="6099048"/>
            <a:ext cx="4023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000" b="1" dirty="0">
                <a:solidFill>
                  <a:srgbClr val="347CD3"/>
                </a:solidFill>
                <a:latin typeface="Aptos"/>
              </a:rPr>
              <a:t>Bengaluru • Multimodal • Decision Support</a:t>
            </a:r>
            <a:endParaRPr sz="1000" b="1" dirty="0">
              <a:solidFill>
                <a:srgbClr val="347CD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Objectives &amp; Key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What the platform is designed to 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4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8580" cy="18288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mobility data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2057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A77"/>
                </a:solidFill>
                <a:latin typeface="Aptos"/>
              </a:rPr>
              <a:t>Transit, ride-hailing, bike-sharing, weather, traffic and demographics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68580" cy="18288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122B49"/>
                </a:solidFill>
                <a:latin typeface="Aptos"/>
              </a:rPr>
              <a:t>integrated analytics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87752"/>
            <a:ext cx="2057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5E6A77"/>
                </a:solidFill>
                <a:latin typeface="Aptos"/>
              </a:rPr>
              <a:t>Standardized data model for cross-modal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68580" cy="18288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MAI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mobility equity indicator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87752"/>
            <a:ext cx="2057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A77"/>
                </a:solidFill>
                <a:latin typeface="Aptos"/>
              </a:rPr>
              <a:t>Compare access and identify mobility gaps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59" y="1600200"/>
            <a:ext cx="68580" cy="18288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59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CMHS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city mobility health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587752"/>
            <a:ext cx="2057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A77"/>
                </a:solidFill>
                <a:latin typeface="Aptos"/>
              </a:rPr>
              <a:t>Executive-level view of overall mobility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99D9D"/>
                </a:solidFill>
                <a:latin typeface="Aptos"/>
              </a:rPr>
              <a:t>• </a:t>
            </a:r>
            <a:r>
              <a:rPr sz="1600">
                <a:solidFill>
                  <a:srgbClr val="222B36"/>
                </a:solidFill>
                <a:latin typeface="Aptos"/>
              </a:rPr>
              <a:t>Standardize timestamps, identifiers and schemas through repeatable ETL.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9D9D"/>
                </a:solidFill>
                <a:latin typeface="Aptos"/>
              </a:rPr>
              <a:t>• </a:t>
            </a:r>
            <a:r>
              <a:rPr sz="1600">
                <a:solidFill>
                  <a:srgbClr val="222B36"/>
                </a:solidFill>
                <a:latin typeface="Aptos"/>
              </a:rPr>
              <a:t>Create a star-schema warehouse and validated Power BI semantic model.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9D9D"/>
                </a:solidFill>
                <a:latin typeface="Aptos"/>
              </a:rPr>
              <a:t>• </a:t>
            </a:r>
            <a:r>
              <a:rPr sz="1600">
                <a:solidFill>
                  <a:srgbClr val="222B36"/>
                </a:solidFill>
                <a:latin typeface="Aptos"/>
              </a:rPr>
              <a:t>Enable geospatial, performance, demand, equity and executive analytics.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9D9D"/>
                </a:solidFill>
                <a:latin typeface="Aptos"/>
              </a:rPr>
              <a:t>• </a:t>
            </a:r>
            <a:r>
              <a:rPr sz="1600">
                <a:solidFill>
                  <a:srgbClr val="222B36"/>
                </a:solidFill>
                <a:latin typeface="Aptos"/>
              </a:rPr>
              <a:t>Support forecasting and anomaly detection for future mobility planning.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Data Sources &amp; 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Public and open mobility data combined into a unified Bengaluru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5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Public Transit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BMTC / GTFS feed
Routes • stops • trips • stop times •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Ride-Hailing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 City / open mobility data
Demand • pickup/drop-off • trip-level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1546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Bike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9359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 City / open mobility data
Station usage • trip activity •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9718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9359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Open-</a:t>
            </a:r>
            <a:r>
              <a:rPr sz="1400" b="0" dirty="0" err="1">
                <a:solidFill>
                  <a:srgbClr val="5E6A77"/>
                </a:solidFill>
                <a:latin typeface="Aptos"/>
              </a:rPr>
              <a:t>Meteo</a:t>
            </a:r>
            <a:r>
              <a:rPr sz="1400" b="0" dirty="0">
                <a:solidFill>
                  <a:srgbClr val="5E6A77"/>
                </a:solidFill>
                <a:latin typeface="Aptos"/>
              </a:rPr>
              <a:t> API
Temperature • rainfall • humidity • wind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8912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3891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Traffic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Traffic / mobility dataset
Traffic volume • congestion indicators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8912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38912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5720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Demographics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1091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Demographic / census data
Population • neighborhood-level indicators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22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ETL &amp; Data-Warehouse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722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722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From raw mobility files to a connected Power BI analytics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282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6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434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" y="1920240"/>
            <a:ext cx="68580" cy="164592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RAW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GTFS • CSV •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602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606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66060" y="1920240"/>
            <a:ext cx="68580" cy="164592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466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466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Python + Pandas
File/API ingestion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774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9778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97780" y="1920240"/>
            <a:ext cx="68580" cy="164592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638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638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Cleaning • standardization
Validation • timestamps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9460" y="2743200"/>
            <a:ext cx="256031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2950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29500" y="1920240"/>
            <a:ext cx="68580" cy="164592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810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810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MySQL warehouse
Structured tables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4118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61219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61219" y="1920240"/>
            <a:ext cx="68580" cy="164592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89819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ANALYZE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9819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Power BI
KPIs • maps • trends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7260" y="420624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6586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Repeatable ETL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586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Reusable scripts reduce manual CSV handling and support refresh.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4914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49140" y="420624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774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Warehouse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774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MySQL provides a centralized, queryable and joinable source of truth.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102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61020" y="420624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8962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BI-ready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962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Power BI reads the prepared model for interactive analytics.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562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44" name="Picture 4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Data Model &amp; Star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Fact tables capture mobility events; dimensions provide reusable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7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4C5164-F528-4078-6198-D37C98A38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09304"/>
            <a:ext cx="11506200" cy="51841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1 — Data Acquisition &amp;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0283" y="1078992"/>
            <a:ext cx="10424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E6A77"/>
                </a:solidFill>
                <a:latin typeface="Aptos"/>
              </a:rPr>
              <a:t>Foundation layer: collect, standardize, validate and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8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799" y="1453896"/>
            <a:ext cx="4663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45719" cy="3904488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251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425195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Collect mobility data from multiple sources, standardize schemas and timestamps, validate quality, and load the prepared data into MySQL for Power BI.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55448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0" y="1554480"/>
            <a:ext cx="68580" cy="96012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71907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221991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Data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55448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1554480"/>
            <a:ext cx="68580" cy="96012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171907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221991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Ride-hailing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278892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0" y="2788920"/>
            <a:ext cx="68580" cy="96012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295351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17K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45643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Bike-share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78892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2788920"/>
            <a:ext cx="68580" cy="96012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295351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45643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Transit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402336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0" y="4023360"/>
            <a:ext cx="68580" cy="96012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97880" y="418795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1K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69087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Weather 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5257800"/>
            <a:ext cx="3322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5257799"/>
            <a:ext cx="68580" cy="914397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09310" y="545896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Quality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879592"/>
            <a:ext cx="47548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Row count • NULL • min/max • relationships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2 — Geospatial Mobility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Where mobility happens: coverage, OD flows and hotspots.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9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749039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337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33755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Use latitude/longitude, wards, stops and routes to understand demand concentration, service coverage, mobility corridors and congestion hotspots.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554480"/>
            <a:ext cx="6903720" cy="2743200"/>
          </a:xfrm>
          <a:prstGeom prst="roundRect">
            <a:avLst/>
          </a:prstGeom>
          <a:solidFill>
            <a:srgbClr val="EBF0F5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029200" y="2103120"/>
            <a:ext cx="5852160" cy="1463040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86400" y="1828800"/>
            <a:ext cx="4846320" cy="1920239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1737360"/>
            <a:ext cx="2286000" cy="2377440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92240" y="2834640"/>
            <a:ext cx="228600" cy="228600"/>
          </a:xfrm>
          <a:prstGeom prst="ellipse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0" y="3154680"/>
            <a:ext cx="310896" cy="310896"/>
          </a:xfrm>
          <a:prstGeom prst="ellipse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651760"/>
            <a:ext cx="201168" cy="201168"/>
          </a:xfrm>
          <a:prstGeom prst="ellipse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0" y="3246120"/>
            <a:ext cx="274320" cy="274320"/>
          </a:xfrm>
          <a:prstGeom prst="ellipse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0" y="2468880"/>
            <a:ext cx="182880" cy="182880"/>
          </a:xfrm>
          <a:prstGeom prst="ellipse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44165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6A77"/>
                </a:solidFill>
                <a:latin typeface="Aptos"/>
              </a:rPr>
              <a:t>Illustrative OD / hotspot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4800600"/>
            <a:ext cx="68580" cy="105156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167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Trips in selected 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95160" y="4800600"/>
            <a:ext cx="68580" cy="105156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136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Routes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26880" y="4800600"/>
            <a:ext cx="68580" cy="105156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5548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498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3 — Transit Performance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How public transit performs.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300" b="1" dirty="0">
                <a:solidFill>
                  <a:srgbClr val="5E6A77"/>
                </a:solidFill>
                <a:latin typeface="Aptos"/>
              </a:rPr>
              <a:t>10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Measure route reliability, schedule adherence, headway behavior, stop activity and service performance using GTFS trips and stop-time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498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stops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167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trips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14K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Incident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572000"/>
            <a:ext cx="6858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4572000"/>
            <a:ext cx="68580" cy="12344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193792"/>
            <a:ext cx="64465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Identify weak routes • compare route performance • detect service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4 — Ride-Hailing &amp; Demand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Understanding on-demand mobility.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1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Analyze pickup/drop-off demand, time-of-day patterns, fare/surge indicators and the relationship between ride-hailing and public transit.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37M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Completed trips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22M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Cancelled trips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31.37%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Conversion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132.07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fare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93792"/>
            <a:ext cx="6446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Plan capacity around peaks • identify high-demand zones • explore modal substitution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5 — Cycling &amp; Micromobility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First/last-mile mobility.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2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Track bike-share utilization and station activity, identify imbalance, and assess how micromobility complements the broader transport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89.824K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bike trips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Active stations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43.7%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station utilization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9.12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available bikes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8.78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trip duration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93792"/>
            <a:ext cx="6446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Find high-use stations • flag rebalancing needs • measure micromobility adoption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6 — Mobility Equity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Access for every neighborhood.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3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Calculate the Mobility Access Index (MAI), compare accessibility across geographic and demographic groups, and highlight underserved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population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58.94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MAI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11.91K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Population density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Well-served constituencies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193792"/>
            <a:ext cx="6446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Prioritize investment • compare access disparities • support equitable mobility planning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7 — Executive Intelligence &amp;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From insight 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4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Combine city-wide mobility health metrics with historical trends, anomaly detection and forecasting to give decision-makers a concise strategic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traffic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0.31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Conversion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39.45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speed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Mobility Health Score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937760" y="4983480"/>
            <a:ext cx="731520" cy="22860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69280" y="4983480"/>
            <a:ext cx="731520" cy="9144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400800" y="4709160"/>
            <a:ext cx="731520" cy="36576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32320" y="4709160"/>
            <a:ext cx="731520" cy="18288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63840" y="4434840"/>
            <a:ext cx="731520" cy="45720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95360" y="4434840"/>
            <a:ext cx="731520" cy="13716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326880" y="4160520"/>
            <a:ext cx="731520" cy="41148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58400" y="3977639"/>
            <a:ext cx="731520" cy="182881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00600" y="548640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5E6A77"/>
                </a:solidFill>
                <a:latin typeface="Aptos"/>
              </a:rPr>
              <a:t>Historical trend → forecast → anomaly alert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Dashboard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5E6A77"/>
                </a:solidFill>
                <a:latin typeface="Apto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AC2153-4DFA-A7DF-DC9A-CECD8A00FF2B}"/>
              </a:ext>
            </a:extLst>
          </p:cNvPr>
          <p:cNvSpPr txBox="1"/>
          <p:nvPr/>
        </p:nvSpPr>
        <p:spPr>
          <a:xfrm>
            <a:off x="7848598" y="4556260"/>
            <a:ext cx="24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Team </a:t>
            </a:r>
            <a:r>
              <a:rPr lang="en-US" dirty="0">
                <a:hlinkClick r:id="rId2"/>
              </a:rPr>
              <a:t>Github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0DECF-0CB6-E9B5-A7CA-C71C16AC8460}"/>
              </a:ext>
            </a:extLst>
          </p:cNvPr>
          <p:cNvSpPr txBox="1"/>
          <p:nvPr/>
        </p:nvSpPr>
        <p:spPr>
          <a:xfrm>
            <a:off x="8343897" y="5232803"/>
            <a:ext cx="1491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268332"/>
            <a:ext cx="792480" cy="5971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DEAD01-BBA1-2E4A-45CD-4ECA32C28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76" y="886968"/>
            <a:ext cx="5634825" cy="28903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6B2C1D-3FEC-1569-2C2E-97CB0017D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665" y="886968"/>
            <a:ext cx="5471159" cy="28903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B0113FB-FCF8-8CCA-3814-E92313158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76" y="3850495"/>
            <a:ext cx="5634824" cy="27646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1036</Words>
  <Application>Microsoft Office PowerPoint</Application>
  <PresentationFormat>Widescreen</PresentationFormat>
  <Paragraphs>223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Anshika Yadav</dc:creator>
  <cp:keywords/>
  <dc:description>generated using python-pptx</dc:description>
  <cp:lastModifiedBy>Anshika Yadav</cp:lastModifiedBy>
  <cp:revision>4</cp:revision>
  <dcterms:created xsi:type="dcterms:W3CDTF">2013-01-27T09:14:16Z</dcterms:created>
  <dcterms:modified xsi:type="dcterms:W3CDTF">2026-09-05T20:14:48Z</dcterms:modified>
  <cp:category/>
</cp:coreProperties>
</file>