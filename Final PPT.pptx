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6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hyperlink" Target="https://github.com/Lalitha-2824/SMART-URBAN-MOBILITY-AND-TRAFFIC-INTELLIGENCE-DASHBOARD-GROUP-1.github.io/tree/main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658368"/>
            <a:ext cx="128016" cy="128016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0392" y="658368"/>
            <a:ext cx="128016" cy="128016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60704" y="658368"/>
            <a:ext cx="128016" cy="128016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URBAN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DBE6F1"/>
                </a:solidFill>
                <a:latin typeface="Aptos"/>
              </a:rPr>
              <a:t>Smart Urban Mobility &amp; Traffic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Aptos"/>
              </a:rPr>
              <a:t>Infosys _Smart Urban Mobility and Traffic Intelligence Dashboard Group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309" y="39319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BCCDDD"/>
                </a:solidFill>
                <a:latin typeface="Aptos"/>
              </a:rPr>
              <a:t>Bengaluru  •  Multimodal Analytics  •  ETL  •  MySQL  •  Power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46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846320"/>
            <a:ext cx="18288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22B49"/>
                </a:solidFill>
                <a:latin typeface="Aptos"/>
              </a:rPr>
              <a:t>WAREHUSE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846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846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80760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dirty="0">
                <a:solidFill>
                  <a:srgbClr val="BCCDDD"/>
                </a:solidFill>
                <a:latin typeface="Aptos"/>
              </a:rPr>
              <a:t> </a:t>
            </a:r>
            <a:endParaRPr sz="1200" b="0" dirty="0">
              <a:solidFill>
                <a:srgbClr val="BCCDDD"/>
              </a:solidFill>
              <a:latin typeface="Apto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748B828-4CE4-5287-A1BF-9A78B3347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114" y="555782"/>
            <a:ext cx="2114006" cy="1593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22B49"/>
                </a:solidFill>
                <a:latin typeface="Aptos"/>
              </a:rPr>
              <a:t>Team Roles &amp;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5E6A77"/>
                </a:solidFill>
                <a:latin typeface="Aptos"/>
              </a:rPr>
              <a:t>Clear ownership across engineering, analytics and BI.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300" b="1" dirty="0">
                <a:solidFill>
                  <a:srgbClr val="5E6A77"/>
                </a:solidFill>
                <a:latin typeface="Aptos"/>
              </a:rPr>
              <a:t>2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8580" cy="1078992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754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B49"/>
                </a:solidFill>
                <a:latin typeface="Aptos"/>
              </a:rPr>
              <a:t>Abhishek Yadav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47548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E6A77"/>
                </a:solidFill>
                <a:latin typeface="Aptos"/>
              </a:rPr>
              <a:t>Data Engineer
ETL • Data Warehouse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68580" cy="1078992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754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B49"/>
                </a:solidFill>
                <a:latin typeface="Aptos"/>
              </a:rPr>
              <a:t>Afsha Shaik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39112"/>
            <a:ext cx="47548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E6A77"/>
                </a:solidFill>
                <a:latin typeface="Aptos"/>
              </a:rPr>
              <a:t>Geospatial Analyst
Maps • spatial analysis •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4320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743200"/>
            <a:ext cx="68580" cy="1078992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926080"/>
            <a:ext cx="4754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B49"/>
                </a:solidFill>
                <a:latin typeface="Aptos"/>
              </a:rPr>
              <a:t>Ansh Patidar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64992"/>
            <a:ext cx="47548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E6A77"/>
                </a:solidFill>
                <a:latin typeface="Aptos"/>
              </a:rPr>
              <a:t>Transit &amp; Ride-Hailing Analyst
Transit performance • demand intelligence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74320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743200"/>
            <a:ext cx="68580" cy="1078992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926080"/>
            <a:ext cx="4754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B49"/>
                </a:solidFill>
                <a:latin typeface="Aptos"/>
              </a:rPr>
              <a:t>Anubha Mittal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64992"/>
            <a:ext cx="47548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E6A77"/>
                </a:solidFill>
                <a:latin typeface="Aptos"/>
              </a:rPr>
              <a:t>Micromobility &amp; Equity Analyst
Cycling • MAI • accessibility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6908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069080"/>
            <a:ext cx="68580" cy="1078992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251960"/>
            <a:ext cx="4754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B49"/>
                </a:solidFill>
                <a:latin typeface="Aptos"/>
              </a:rPr>
              <a:t>Bysani Sree Lalitha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690872"/>
            <a:ext cx="47548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E6A77"/>
                </a:solidFill>
                <a:latin typeface="Aptos"/>
              </a:rPr>
              <a:t>BI Lead / Project Manager
Dashboard integration • coordination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059937"/>
            <a:ext cx="5074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069080"/>
            <a:ext cx="68580" cy="1078992"/>
          </a:xfrm>
          <a:prstGeom prst="rect">
            <a:avLst/>
          </a:prstGeom>
          <a:solidFill>
            <a:srgbClr val="12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251960"/>
            <a:ext cx="4754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B49"/>
                </a:solidFill>
                <a:latin typeface="Aptos"/>
              </a:rPr>
              <a:t>All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690872"/>
            <a:ext cx="47548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E6A77"/>
                </a:solidFill>
                <a:latin typeface="Aptos"/>
              </a:rPr>
              <a:t>Cross-functional
Validation • testing • final delivery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669280"/>
            <a:ext cx="914400" cy="329184"/>
          </a:xfrm>
          <a:prstGeom prst="roundRect">
            <a:avLst/>
          </a:prstGeom>
          <a:solidFill>
            <a:srgbClr val="EBF7F7"/>
          </a:solidFill>
          <a:ln w="10160">
            <a:solidFill>
              <a:srgbClr val="19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687568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9D9D"/>
                </a:solidFill>
                <a:latin typeface="Aptos"/>
              </a:rPr>
              <a:t>Python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74519" y="5669280"/>
            <a:ext cx="914400" cy="329184"/>
          </a:xfrm>
          <a:prstGeom prst="roundRect">
            <a:avLst/>
          </a:prstGeom>
          <a:solidFill>
            <a:srgbClr val="EBF7F7"/>
          </a:solidFill>
          <a:ln w="10160">
            <a:solidFill>
              <a:srgbClr val="347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874519" y="5687568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47CD3"/>
                </a:solidFill>
                <a:latin typeface="Aptos"/>
              </a:rPr>
              <a:t>Pandas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43350" y="5687568"/>
            <a:ext cx="914400" cy="329184"/>
          </a:xfrm>
          <a:prstGeom prst="roundRect">
            <a:avLst/>
          </a:prstGeom>
          <a:solidFill>
            <a:srgbClr val="EBF7F7"/>
          </a:solidFill>
          <a:ln w="10160">
            <a:solidFill>
              <a:srgbClr val="EF8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86200" y="5741997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EF8569"/>
                </a:solidFill>
                <a:latin typeface="Aptos"/>
              </a:rPr>
              <a:t>MySQL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06341" y="5691051"/>
            <a:ext cx="1005840" cy="329184"/>
          </a:xfrm>
          <a:prstGeom prst="roundRect">
            <a:avLst/>
          </a:prstGeom>
          <a:solidFill>
            <a:srgbClr val="EBF7F7"/>
          </a:solidFill>
          <a:ln w="10160">
            <a:solidFill>
              <a:srgbClr val="19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57750" y="5705856"/>
            <a:ext cx="1005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199D9D"/>
                </a:solidFill>
                <a:latin typeface="Aptos"/>
              </a:rPr>
              <a:t>Power BI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48940" y="5669280"/>
            <a:ext cx="822960" cy="329184"/>
          </a:xfrm>
          <a:prstGeom prst="roundRect">
            <a:avLst/>
          </a:prstGeom>
          <a:solidFill>
            <a:srgbClr val="EBF7F7"/>
          </a:solidFill>
          <a:ln w="10160">
            <a:solidFill>
              <a:srgbClr val="EF8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34640" y="5705857"/>
            <a:ext cx="822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F8569"/>
                </a:solidFill>
                <a:latin typeface="Aptos"/>
              </a:rPr>
              <a:t>APIs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Project Vision &amp;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5E6A77"/>
                </a:solidFill>
                <a:latin typeface="Aptos"/>
              </a:rPr>
              <a:t>One analytics environment for understanding how Bengaluru moves.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3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8580" cy="425196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21992"/>
            <a:ext cx="3017520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E6A77"/>
                </a:solidFill>
                <a:latin typeface="Aptos"/>
              </a:rPr>
              <a:t>Mobility data is fragmented across transit, ride-hailing, cycling, weather, traffic and demographic sources. Without standardization, cross-modal analysis is difficult.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8580" cy="425196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21992"/>
            <a:ext cx="3017520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E6A77"/>
                </a:solidFill>
                <a:latin typeface="Aptos"/>
              </a:rPr>
              <a:t>Urban Pulse integrates multimodal datasets into a common data model, then exposes operational and strategic insights through Power BI.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600200"/>
            <a:ext cx="68580" cy="425196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7830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The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221992"/>
            <a:ext cx="301752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E6A77"/>
                </a:solidFill>
                <a:latin typeface="Aptos"/>
              </a:rPr>
              <a:t>Stakeholders can monitor demand, reliability, accessibility, mobility equity, bottlenecks and future mobility trends in one place.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6080760"/>
            <a:ext cx="4023360" cy="329184"/>
          </a:xfrm>
          <a:prstGeom prst="roundRect">
            <a:avLst/>
          </a:prstGeom>
          <a:solidFill>
            <a:srgbClr val="EBF7F7"/>
          </a:solidFill>
          <a:ln w="10160">
            <a:solidFill>
              <a:srgbClr val="347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69080" y="6099048"/>
            <a:ext cx="4023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1000" b="1" dirty="0">
                <a:solidFill>
                  <a:srgbClr val="347CD3"/>
                </a:solidFill>
                <a:latin typeface="Aptos"/>
              </a:rPr>
              <a:t>Bengaluru • Multimodal • Decision Support</a:t>
            </a:r>
            <a:endParaRPr sz="1000" b="1" dirty="0">
              <a:solidFill>
                <a:srgbClr val="347CD3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68580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50" b="0" dirty="0">
                <a:solidFill>
                  <a:srgbClr val="5E6A77"/>
                </a:solidFill>
                <a:latin typeface="Aptos"/>
              </a:rPr>
              <a:t> </a:t>
            </a:r>
            <a:endParaRPr sz="850" b="0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Objectives &amp; Key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What the platform is designed to deliver.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4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68580" cy="18288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6+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mobility data 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20574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A77"/>
                </a:solidFill>
                <a:latin typeface="Aptos"/>
              </a:rPr>
              <a:t>Transit, ride-hailing, bike-sharing, weather, traffic and demographics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0" y="1600200"/>
            <a:ext cx="68580" cy="18288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76479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>
                <a:solidFill>
                  <a:srgbClr val="122B49"/>
                </a:solidFill>
                <a:latin typeface="Aptos"/>
              </a:rPr>
              <a:t>integrated analytics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587752"/>
            <a:ext cx="20574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5E6A77"/>
                </a:solidFill>
                <a:latin typeface="Aptos"/>
              </a:rPr>
              <a:t>Standardized data model for cross-modal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600200"/>
            <a:ext cx="68580" cy="18288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76479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MAI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mobility equity indicator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87752"/>
            <a:ext cx="20574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A77"/>
                </a:solidFill>
                <a:latin typeface="Aptos"/>
              </a:rPr>
              <a:t>Compare access and identify mobility gaps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160020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559" y="1600200"/>
            <a:ext cx="68580" cy="18288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81159" y="176479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CMHS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city mobility health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2587752"/>
            <a:ext cx="20574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E6A77"/>
                </a:solidFill>
                <a:latin typeface="Aptos"/>
              </a:rPr>
              <a:t>Executive-level view of overall mobility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886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199D9D"/>
                </a:solidFill>
                <a:latin typeface="Aptos"/>
              </a:rPr>
              <a:t>• </a:t>
            </a:r>
            <a:r>
              <a:rPr sz="1600">
                <a:solidFill>
                  <a:srgbClr val="222B36"/>
                </a:solidFill>
                <a:latin typeface="Aptos"/>
              </a:rPr>
              <a:t>Standardize timestamps, identifiers and schemas through repeatable ETL.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99D9D"/>
                </a:solidFill>
                <a:latin typeface="Aptos"/>
              </a:rPr>
              <a:t>• </a:t>
            </a:r>
            <a:r>
              <a:rPr sz="1600">
                <a:solidFill>
                  <a:srgbClr val="222B36"/>
                </a:solidFill>
                <a:latin typeface="Aptos"/>
              </a:rPr>
              <a:t>Create a star-schema warehouse and validated Power BI semantic model.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99D9D"/>
                </a:solidFill>
                <a:latin typeface="Aptos"/>
              </a:rPr>
              <a:t>• </a:t>
            </a:r>
            <a:r>
              <a:rPr sz="1600">
                <a:solidFill>
                  <a:srgbClr val="222B36"/>
                </a:solidFill>
                <a:latin typeface="Aptos"/>
              </a:rPr>
              <a:t>Enable geospatial, performance, demand, equity and executive analytics.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99D9D"/>
                </a:solidFill>
                <a:latin typeface="Aptos"/>
              </a:rPr>
              <a:t>• </a:t>
            </a:r>
            <a:r>
              <a:rPr sz="1600">
                <a:solidFill>
                  <a:srgbClr val="222B36"/>
                </a:solidFill>
                <a:latin typeface="Aptos"/>
              </a:rPr>
              <a:t>Support forecasting and anomaly detection for future mobility planning.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68580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50" b="0" dirty="0">
                <a:solidFill>
                  <a:srgbClr val="5E6A77"/>
                </a:solidFill>
                <a:latin typeface="Aptos"/>
              </a:rPr>
              <a:t> </a:t>
            </a:r>
            <a:endParaRPr sz="850" b="0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Data Sources &amp; Acquisition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Public and open mobility data combined into a unified Bengaluru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5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22B49"/>
                </a:solidFill>
                <a:latin typeface="Aptos"/>
              </a:rPr>
              <a:t>Public Transit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BMTC / GTFS feed
Routes • stops • trips • stop times • calendar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Ride-Hailing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Open City / open mobility data
Demand • pickup/drop-off • trip-level indicators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7180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97180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1546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Bike Sharing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93592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Open City / open mobility data
Station usage • trip activity • availability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97180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971800"/>
            <a:ext cx="68580" cy="11430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1546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Weather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93592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Open-</a:t>
            </a:r>
            <a:r>
              <a:rPr sz="1400" b="0" dirty="0" err="1">
                <a:solidFill>
                  <a:srgbClr val="5E6A77"/>
                </a:solidFill>
                <a:latin typeface="Aptos"/>
              </a:rPr>
              <a:t>Meteo</a:t>
            </a:r>
            <a:r>
              <a:rPr sz="1400" b="0" dirty="0">
                <a:solidFill>
                  <a:srgbClr val="5E6A77"/>
                </a:solidFill>
                <a:latin typeface="Aptos"/>
              </a:rPr>
              <a:t> API
Temperature • rainfall • humidity • wind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8912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389120"/>
            <a:ext cx="68580" cy="1143000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Traffic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Traffic / mobility dataset
Traffic volume • congestion indicators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8912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38912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5720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Demographics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010912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Demographic / census data
Population • neighborhood-level indicators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68580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50" b="0" dirty="0">
                <a:solidFill>
                  <a:srgbClr val="5E6A77"/>
                </a:solidFill>
                <a:latin typeface="Aptos"/>
              </a:rPr>
              <a:t> </a:t>
            </a:r>
            <a:endParaRPr sz="850" b="0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722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ETL &amp; Data-Warehouse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7220" y="960120"/>
            <a:ext cx="914400" cy="50292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722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From raw mobility files to a connected Power BI analytics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282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6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4340" y="1920240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4340" y="1920240"/>
            <a:ext cx="68580" cy="164592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" y="21031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RAW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" y="2542032"/>
            <a:ext cx="160020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GTFS • CSV •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46020" y="2743200"/>
            <a:ext cx="256032" cy="0"/>
          </a:xfrm>
          <a:prstGeom prst="line">
            <a:avLst/>
          </a:prstGeom>
          <a:ln w="21590">
            <a:solidFill>
              <a:srgbClr val="5E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66060" y="1920240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66060" y="1920240"/>
            <a:ext cx="68580" cy="164592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94660" y="21031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4660" y="2542032"/>
            <a:ext cx="160020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Python + Pandas
File/API ingestion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77740" y="2743200"/>
            <a:ext cx="256032" cy="0"/>
          </a:xfrm>
          <a:prstGeom prst="line">
            <a:avLst/>
          </a:prstGeom>
          <a:ln w="21590">
            <a:solidFill>
              <a:srgbClr val="5E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97780" y="1920240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97780" y="1920240"/>
            <a:ext cx="68580" cy="164592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26380" y="21031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TRANSFORM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6380" y="2542032"/>
            <a:ext cx="160020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Cleaning • standardization
Validation • timestamps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09460" y="2743200"/>
            <a:ext cx="256031" cy="0"/>
          </a:xfrm>
          <a:prstGeom prst="line">
            <a:avLst/>
          </a:prstGeom>
          <a:ln w="21590">
            <a:solidFill>
              <a:srgbClr val="5E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29500" y="1920240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29500" y="1920240"/>
            <a:ext cx="68580" cy="164592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58100" y="21031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8100" y="2542032"/>
            <a:ext cx="160020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MySQL warehouse
Structured tables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41180" y="2743200"/>
            <a:ext cx="256032" cy="0"/>
          </a:xfrm>
          <a:prstGeom prst="line">
            <a:avLst/>
          </a:prstGeom>
          <a:ln w="21590">
            <a:solidFill>
              <a:srgbClr val="5E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61219" y="1920240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761219" y="1920240"/>
            <a:ext cx="68580" cy="1645920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89819" y="21031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ANALYZE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9819" y="2542032"/>
            <a:ext cx="160020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Power BI
KPIs • maps • trends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" y="420624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37260" y="420624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65860" y="43891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Repeatable ETL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5860" y="4828031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Reusable scripts reduce manual CSV handling and support refresh.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49140" y="420624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49140" y="420624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77740" y="43891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Warehouse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7740" y="4828031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MySQL provides a centralized, queryable and joinable source of truth.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61020" y="420624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61020" y="420624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89620" y="43891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BI-ready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9620" y="4828031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Power BI reads the prepared model for interactive analytics.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7562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Data Model &amp; Star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Fact tables capture mobility events; dimensions provide reusable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7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FEFC935-49F2-0F64-552B-ABC29A918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" y="1453896"/>
            <a:ext cx="10293531" cy="5175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1 — Data Acquisition &amp;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0283" y="1078992"/>
            <a:ext cx="1042416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5E6A77"/>
                </a:solidFill>
                <a:latin typeface="Aptos"/>
              </a:rPr>
              <a:t>Foundation layer: collect, standardize, validate and 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8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799" y="1453896"/>
            <a:ext cx="4663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45719" cy="3904488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2519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4251959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Collect mobility data from multiple sources, standardize schemas and timestamps, validate quality, and load the prepared data into MySQL for Power BI.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55448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0" y="1554480"/>
            <a:ext cx="68580" cy="96012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97880" y="1719072"/>
            <a:ext cx="2011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221991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Data 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55448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12480" y="1554480"/>
            <a:ext cx="68580" cy="96012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1719072"/>
            <a:ext cx="2011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9K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221991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Ride-hailing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278892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0" y="2788920"/>
            <a:ext cx="68580" cy="96012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97880" y="2953512"/>
            <a:ext cx="2011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17K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456432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Bike-share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78892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12480" y="2788920"/>
            <a:ext cx="68580" cy="96012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41080" y="2953512"/>
            <a:ext cx="2011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9K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456432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Transit records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402336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0" y="4023360"/>
            <a:ext cx="68580" cy="960120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97880" y="4187952"/>
            <a:ext cx="2011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A66E"/>
                </a:solidFill>
                <a:latin typeface="Aptos"/>
              </a:rPr>
              <a:t>1K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4690872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Weather points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5257800"/>
            <a:ext cx="5166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0" y="5257799"/>
            <a:ext cx="68580" cy="914397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09310" y="545896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22B49"/>
                </a:solidFill>
                <a:latin typeface="Aptos"/>
              </a:rPr>
              <a:t>Quality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5879592"/>
            <a:ext cx="47548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Row count • NULL • min/max • relationships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2 — Geospatial Mobility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Where mobility happens: coverage, OD flows and hotspots.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9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749039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443484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3375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337559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Use latitude/longitude, wards, stops and routes to understand demand concentration, service coverage, mobility corridors and congestion hotspots.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554480"/>
            <a:ext cx="6903720" cy="2743200"/>
          </a:xfrm>
          <a:prstGeom prst="roundRect">
            <a:avLst/>
          </a:prstGeom>
          <a:solidFill>
            <a:srgbClr val="EBF0F5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5029200" y="2103120"/>
            <a:ext cx="5852160" cy="1463040"/>
          </a:xfrm>
          <a:prstGeom prst="line">
            <a:avLst/>
          </a:prstGeom>
          <a:ln w="25400">
            <a:solidFill>
              <a:srgbClr val="C6D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486400" y="1828800"/>
            <a:ext cx="4846320" cy="1920239"/>
          </a:xfrm>
          <a:prstGeom prst="line">
            <a:avLst/>
          </a:prstGeom>
          <a:ln w="25400">
            <a:solidFill>
              <a:srgbClr val="C6D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1737360"/>
            <a:ext cx="2286000" cy="2377440"/>
          </a:xfrm>
          <a:prstGeom prst="line">
            <a:avLst/>
          </a:prstGeom>
          <a:ln w="25400">
            <a:solidFill>
              <a:srgbClr val="C6D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492240" y="2834640"/>
            <a:ext cx="228600" cy="228600"/>
          </a:xfrm>
          <a:prstGeom prst="ellipse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0" y="3154680"/>
            <a:ext cx="310896" cy="310896"/>
          </a:xfrm>
          <a:prstGeom prst="ellipse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0" y="2651760"/>
            <a:ext cx="201168" cy="201168"/>
          </a:xfrm>
          <a:prstGeom prst="ellipse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35440" y="3246120"/>
            <a:ext cx="274320" cy="274320"/>
          </a:xfrm>
          <a:prstGeom prst="ellipse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58400" y="2468880"/>
            <a:ext cx="182880" cy="182880"/>
          </a:xfrm>
          <a:prstGeom prst="ellipse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44165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E6A77"/>
                </a:solidFill>
                <a:latin typeface="Aptos"/>
              </a:rPr>
              <a:t>Illustrative OD / hotspot 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480060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63440" y="4800600"/>
            <a:ext cx="68580" cy="105156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49834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167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5422392"/>
            <a:ext cx="1645920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Trips in selected 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480060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95160" y="4800600"/>
            <a:ext cx="68580" cy="105156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23760" y="49834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136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422392"/>
            <a:ext cx="1645920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Routes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480060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326880" y="4800600"/>
            <a:ext cx="68580" cy="105156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55480" y="49834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498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5422392"/>
            <a:ext cx="1645920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Stops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3 — Transit Performance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How public transit performs.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300" b="1" dirty="0">
                <a:solidFill>
                  <a:srgbClr val="5E6A77"/>
                </a:solidFill>
                <a:latin typeface="Aptos"/>
              </a:rPr>
              <a:t>10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6576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443484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246120" cy="3685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Measure route reliability, schedule adherence, headway behavior, stop activity and service performance using GTFS trips and stop-time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0020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76479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136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67712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routes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76479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498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67712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stops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01752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17720" y="301752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0" y="318211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167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685031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trips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01752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3017520"/>
            <a:ext cx="68580" cy="11430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318211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14K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685031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Incident reports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4572000"/>
            <a:ext cx="6858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17720" y="4572000"/>
            <a:ext cx="68580" cy="123444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4754880"/>
            <a:ext cx="6446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Decision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193792"/>
            <a:ext cx="64465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Identify weak routes • compare route performance • detect service gaps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4 — Ride-Hailing &amp; Demand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Understanding on-demand mobility.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1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1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6576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443484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24612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Analyze pickup/drop-off demand, time-of-day patterns, fare/surge indicators and the relationship between ride-hailing and public transit.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68580" cy="11430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59M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bookings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49440" y="160020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37M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Completed trips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81159" y="1600200"/>
            <a:ext cx="68580" cy="1143000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59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A66E"/>
                </a:solidFill>
                <a:latin typeface="Aptos"/>
              </a:rPr>
              <a:t>22M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Cancelled trips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0175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17720" y="301752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0" y="318211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31.37%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68503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Conversion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0175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0" y="301752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78040" y="318211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132.07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68503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Average fare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4572000"/>
            <a:ext cx="6858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17720" y="457200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4754880"/>
            <a:ext cx="6446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Decision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193792"/>
            <a:ext cx="6446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Plan capacity around peaks • identify high-demand zones • explore modal substitution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5 — Cycling &amp; Micromobility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E6A77"/>
                </a:solidFill>
                <a:latin typeface="Aptos"/>
              </a:rPr>
              <a:t>First/last-mile mobility.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1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2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6576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443484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24612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Track bike-share utilization and station activity, identify imbalance, and assess how micromobility complements the broader transport network.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89.824K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bike trips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49440" y="160020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Active stations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81159" y="160020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59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43.7%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Avg. station utilization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0175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17720" y="3017520"/>
            <a:ext cx="68580" cy="11430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0" y="318211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9.12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68503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Avg. available bikes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0175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0" y="3017520"/>
            <a:ext cx="68580" cy="1143000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78040" y="318211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A66E"/>
                </a:solidFill>
                <a:latin typeface="Aptos"/>
              </a:rPr>
              <a:t>8.78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68503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Avg. trip duration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4572000"/>
            <a:ext cx="6858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17720" y="457200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4754880"/>
            <a:ext cx="6446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Decision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193792"/>
            <a:ext cx="6446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Find high-use stations • flag rebalancing needs • measure micromobility adoption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6 — Mobility Equity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E6A77"/>
                </a:solidFill>
                <a:latin typeface="Aptos"/>
              </a:rPr>
              <a:t>Access for every neighborhood.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1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3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6576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443484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24612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Calculate the Mobility Access Index (MAI), compare accessibility across geographic and demographic groups, and highlight underserved areas.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0020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76479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67712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population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8580" cy="11430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76479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58.94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67712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Average MAI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01752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17720" y="301752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0" y="318211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11.91K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685031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Population density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01752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301752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318211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685031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Well-served constituencies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4572000"/>
            <a:ext cx="6858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17720" y="457200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4754880"/>
            <a:ext cx="6446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Decision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193792"/>
            <a:ext cx="6446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Prioritize investment • compare access disparities • support equitable mobility planning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7 — Executive Intelligence &amp; Forecasting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From insight to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1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4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6576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443484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24612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Combine city-wide mobility health metrics with historical trends, anomaly detection and forecasting to give decision-makers a concise strategic 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68580" cy="11430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59M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bookings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49440" y="160020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9K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traffic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81159" y="160020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59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0.31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Conversion 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0175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17720" y="301752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0" y="318211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39.45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68503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Average speed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0175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0" y="3017520"/>
            <a:ext cx="68580" cy="1143000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78040" y="318211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A66E"/>
                </a:solidFill>
                <a:latin typeface="Aptos"/>
              </a:rPr>
              <a:t>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68503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Mobility Health Score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4937760" y="4983480"/>
            <a:ext cx="731520" cy="22860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669280" y="4983480"/>
            <a:ext cx="731520" cy="9144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400800" y="4709160"/>
            <a:ext cx="731520" cy="36576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32320" y="4709160"/>
            <a:ext cx="731520" cy="18288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863840" y="4434840"/>
            <a:ext cx="731520" cy="45720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595360" y="4434840"/>
            <a:ext cx="731520" cy="13716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326880" y="4160520"/>
            <a:ext cx="731520" cy="41148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058400" y="3977639"/>
            <a:ext cx="731520" cy="182881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800600" y="5486400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5E6A77"/>
                </a:solidFill>
                <a:latin typeface="Aptos"/>
              </a:rPr>
              <a:t>Historical trend → forecast → anomaly alert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Dashboard Showcase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5E6A77"/>
                </a:solidFill>
                <a:latin typeface="Aptos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AC2153-4DFA-A7DF-DC9A-CECD8A00FF2B}"/>
              </a:ext>
            </a:extLst>
          </p:cNvPr>
          <p:cNvSpPr txBox="1"/>
          <p:nvPr/>
        </p:nvSpPr>
        <p:spPr>
          <a:xfrm>
            <a:off x="7739741" y="5395569"/>
            <a:ext cx="248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More Team </a:t>
            </a:r>
            <a:r>
              <a:rPr lang="en-US" dirty="0">
                <a:hlinkClick r:id="rId2"/>
              </a:rPr>
              <a:t>Github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DF1310-2D4C-D514-B468-28E3286F8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26" y="886968"/>
            <a:ext cx="5889172" cy="32219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4985167-4754-5D75-0AD8-1CB356B3C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626" y="886968"/>
            <a:ext cx="5682345" cy="32219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1BECEB-7452-8C29-829F-9344F6DD0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826" y="4288971"/>
            <a:ext cx="5889173" cy="249282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1C0DECF-0CB6-E9B5-A7CA-C71C16AC8460}"/>
              </a:ext>
            </a:extLst>
          </p:cNvPr>
          <p:cNvSpPr txBox="1"/>
          <p:nvPr/>
        </p:nvSpPr>
        <p:spPr>
          <a:xfrm>
            <a:off x="8235040" y="6073842"/>
            <a:ext cx="1491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Thank You</a:t>
            </a:r>
            <a:endParaRPr lang="en-IN" sz="20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1202</TotalTime>
  <Words>1048</Words>
  <Application>Microsoft Office PowerPoint</Application>
  <PresentationFormat>Widescreen</PresentationFormat>
  <Paragraphs>225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Anshika Yadav</dc:creator>
  <cp:keywords/>
  <dc:description>generated using python-pptx</dc:description>
  <cp:lastModifiedBy>Anshika Yadav</cp:lastModifiedBy>
  <cp:revision>4</cp:revision>
  <dcterms:created xsi:type="dcterms:W3CDTF">2013-01-27T09:14:16Z</dcterms:created>
  <dcterms:modified xsi:type="dcterms:W3CDTF">2026-08-21T12:57:19Z</dcterms:modified>
  <cp:category/>
</cp:coreProperties>
</file>