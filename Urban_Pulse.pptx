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FF23B9-5790-4DCA-BC50-853CE55D46FA}">
          <p14:sldIdLst>
            <p14:sldId id="256"/>
            <p14:sldId id="269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Untitled Section" id="{D8698DF0-E2CA-4071-8AC9-4410F12F3BB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2B0EC-1369-4264-8151-0D4D94D0EFBF}" v="21" dt="2026-09-16T18:29:04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6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ika Yadav" userId="d6ff2797858b0cb4" providerId="LiveId" clId="{B664A81A-579A-40E8-9DEF-D64BF217BE55}"/>
    <pc:docChg chg="undo custSel modSld addSection modSection">
      <pc:chgData name="Anshika Yadav" userId="d6ff2797858b0cb4" providerId="LiveId" clId="{B664A81A-579A-40E8-9DEF-D64BF217BE55}" dt="2026-09-16T18:29:43.849" v="200"/>
      <pc:docMkLst>
        <pc:docMk/>
      </pc:docMkLst>
      <pc:sldChg chg="addAnim delAnim modAnim">
        <pc:chgData name="Anshika Yadav" userId="d6ff2797858b0cb4" providerId="LiveId" clId="{B664A81A-579A-40E8-9DEF-D64BF217BE55}" dt="2026-09-16T18:29:43.849" v="200"/>
        <pc:sldMkLst>
          <pc:docMk/>
          <pc:sldMk cId="0" sldId="256"/>
        </pc:sldMkLst>
      </pc:sldChg>
      <pc:sldChg chg="modSp mod">
        <pc:chgData name="Anshika Yadav" userId="d6ff2797858b0cb4" providerId="LiveId" clId="{B664A81A-579A-40E8-9DEF-D64BF217BE55}" dt="2026-09-16T12:01:24.360" v="123" actId="255"/>
        <pc:sldMkLst>
          <pc:docMk/>
          <pc:sldMk cId="0" sldId="258"/>
        </pc:sldMkLst>
        <pc:spChg chg="mod">
          <ac:chgData name="Anshika Yadav" userId="d6ff2797858b0cb4" providerId="LiveId" clId="{B664A81A-579A-40E8-9DEF-D64BF217BE55}" dt="2026-09-16T11:59:50.408" v="106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Anshika Yadav" userId="d6ff2797858b0cb4" providerId="LiveId" clId="{B664A81A-579A-40E8-9DEF-D64BF217BE55}" dt="2026-09-16T12:01:09.503" v="120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nshika Yadav" userId="d6ff2797858b0cb4" providerId="LiveId" clId="{B664A81A-579A-40E8-9DEF-D64BF217BE55}" dt="2026-09-16T11:59:46.495" v="104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nshika Yadav" userId="d6ff2797858b0cb4" providerId="LiveId" clId="{B664A81A-579A-40E8-9DEF-D64BF217BE55}" dt="2026-09-16T12:01:14.428" v="121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nshika Yadav" userId="d6ff2797858b0cb4" providerId="LiveId" clId="{B664A81A-579A-40E8-9DEF-D64BF217BE55}" dt="2026-09-16T11:59:54.769" v="108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nshika Yadav" userId="d6ff2797858b0cb4" providerId="LiveId" clId="{B664A81A-579A-40E8-9DEF-D64BF217BE55}" dt="2026-09-16T12:01:19.703" v="122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nshika Yadav" userId="d6ff2797858b0cb4" providerId="LiveId" clId="{B664A81A-579A-40E8-9DEF-D64BF217BE55}" dt="2026-09-16T12:00:11.404" v="118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nshika Yadav" userId="d6ff2797858b0cb4" providerId="LiveId" clId="{B664A81A-579A-40E8-9DEF-D64BF217BE55}" dt="2026-09-16T12:01:24.360" v="123" actId="255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Anshika Yadav" userId="d6ff2797858b0cb4" providerId="LiveId" clId="{B664A81A-579A-40E8-9DEF-D64BF217BE55}" dt="2026-09-16T12:09:11.722" v="188" actId="20577"/>
        <pc:sldMkLst>
          <pc:docMk/>
          <pc:sldMk cId="0" sldId="259"/>
        </pc:sldMkLst>
        <pc:spChg chg="mod">
          <ac:chgData name="Anshika Yadav" userId="d6ff2797858b0cb4" providerId="LiveId" clId="{B664A81A-579A-40E8-9DEF-D64BF217BE55}" dt="2026-09-16T12:09:11.722" v="188" actId="20577"/>
          <ac:spMkLst>
            <pc:docMk/>
            <pc:sldMk cId="0" sldId="259"/>
            <ac:spMk id="29" creationId="{00000000-0000-0000-0000-000000000000}"/>
          </ac:spMkLst>
        </pc:spChg>
      </pc:sldChg>
      <pc:sldChg chg="addSp delSp modSp mod">
        <pc:chgData name="Anshika Yadav" userId="d6ff2797858b0cb4" providerId="LiveId" clId="{B664A81A-579A-40E8-9DEF-D64BF217BE55}" dt="2026-09-05T20:14:16.715" v="74" actId="14100"/>
        <pc:sldMkLst>
          <pc:docMk/>
          <pc:sldMk cId="0" sldId="261"/>
        </pc:sldMkLst>
        <pc:picChg chg="add mod">
          <ac:chgData name="Anshika Yadav" userId="d6ff2797858b0cb4" providerId="LiveId" clId="{B664A81A-579A-40E8-9DEF-D64BF217BE55}" dt="2026-09-05T20:14:16.715" v="74" actId="14100"/>
          <ac:picMkLst>
            <pc:docMk/>
            <pc:sldMk cId="0" sldId="261"/>
            <ac:picMk id="7" creationId="{044C5164-F528-4078-6198-D37C98A38BAB}"/>
          </ac:picMkLst>
        </pc:picChg>
      </pc:sldChg>
      <pc:sldChg chg="addSp delSp modSp mod modTransition">
        <pc:chgData name="Anshika Yadav" userId="d6ff2797858b0cb4" providerId="LiveId" clId="{B664A81A-579A-40E8-9DEF-D64BF217BE55}" dt="2026-09-16T11:56:17.524" v="92" actId="478"/>
        <pc:sldMkLst>
          <pc:docMk/>
          <pc:sldMk cId="0" sldId="262"/>
        </pc:sldMkLst>
        <pc:spChg chg="mod">
          <ac:chgData name="Anshika Yadav" userId="d6ff2797858b0cb4" providerId="LiveId" clId="{B664A81A-579A-40E8-9DEF-D64BF217BE55}" dt="2026-09-16T11:50:23.933" v="78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Anshika Yadav" userId="d6ff2797858b0cb4" providerId="LiveId" clId="{B664A81A-579A-40E8-9DEF-D64BF217BE55}" dt="2026-09-16T11:50:11.261" v="76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Anshika Yadav" userId="d6ff2797858b0cb4" providerId="LiveId" clId="{B664A81A-579A-40E8-9DEF-D64BF217BE55}" dt="2026-09-05T20:14:42.923" v="75" actId="14100"/>
          <ac:spMkLst>
            <pc:docMk/>
            <pc:sldMk cId="0" sldId="262"/>
            <ac:spMk id="30" creationId="{00000000-0000-0000-0000-000000000000}"/>
          </ac:spMkLst>
        </pc:spChg>
        <pc:picChg chg="add del mod">
          <ac:chgData name="Anshika Yadav" userId="d6ff2797858b0cb4" providerId="LiveId" clId="{B664A81A-579A-40E8-9DEF-D64BF217BE55}" dt="2026-09-16T11:56:17.524" v="92" actId="478"/>
          <ac:picMkLst>
            <pc:docMk/>
            <pc:sldMk cId="0" sldId="262"/>
            <ac:picMk id="37" creationId="{EB5FC88E-BA15-85B9-BF77-AA919BBA522B}"/>
          </ac:picMkLst>
        </pc:picChg>
      </pc:sldChg>
      <pc:sldChg chg="modSp">
        <pc:chgData name="Anshika Yadav" userId="d6ff2797858b0cb4" providerId="LiveId" clId="{B664A81A-579A-40E8-9DEF-D64BF217BE55}" dt="2026-09-16T12:11:47.038" v="189"/>
        <pc:sldMkLst>
          <pc:docMk/>
          <pc:sldMk cId="0" sldId="265"/>
        </pc:sldMkLst>
        <pc:spChg chg="mod">
          <ac:chgData name="Anshika Yadav" userId="d6ff2797858b0cb4" providerId="LiveId" clId="{B664A81A-579A-40E8-9DEF-D64BF217BE55}" dt="2026-09-16T12:11:47.038" v="189"/>
          <ac:spMkLst>
            <pc:docMk/>
            <pc:sldMk cId="0" sldId="265"/>
            <ac:spMk id="28" creationId="{00000000-0000-0000-0000-000000000000}"/>
          </ac:spMkLst>
        </pc:spChg>
      </pc:sldChg>
      <pc:sldChg chg="modSp mod">
        <pc:chgData name="Anshika Yadav" userId="d6ff2797858b0cb4" providerId="LiveId" clId="{B664A81A-579A-40E8-9DEF-D64BF217BE55}" dt="2026-09-16T12:12:32.232" v="192" actId="1036"/>
        <pc:sldMkLst>
          <pc:docMk/>
          <pc:sldMk cId="0" sldId="266"/>
        </pc:sldMkLst>
        <pc:spChg chg="mod">
          <ac:chgData name="Anshika Yadav" userId="d6ff2797858b0cb4" providerId="LiveId" clId="{B664A81A-579A-40E8-9DEF-D64BF217BE55}" dt="2026-09-16T12:12:32.232" v="192" actId="1036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Anshika Yadav" userId="d6ff2797858b0cb4" providerId="LiveId" clId="{B664A81A-579A-40E8-9DEF-D64BF217BE55}" dt="2026-09-16T11:51:38.342" v="81" actId="2711"/>
        <pc:sldMkLst>
          <pc:docMk/>
          <pc:sldMk cId="0" sldId="268"/>
        </pc:sldMkLst>
        <pc:spChg chg="mod">
          <ac:chgData name="Anshika Yadav" userId="d6ff2797858b0cb4" providerId="LiveId" clId="{B664A81A-579A-40E8-9DEF-D64BF217BE55}" dt="2026-09-16T11:51:38.342" v="81" actId="2711"/>
          <ac:spMkLst>
            <pc:docMk/>
            <pc:sldMk cId="0" sldId="268"/>
            <ac:spMk id="9" creationId="{00000000-0000-0000-0000-000000000000}"/>
          </ac:spMkLst>
        </pc:spChg>
      </pc:sldChg>
      <pc:sldChg chg="delSp modSp mod">
        <pc:chgData name="Anshika Yadav" userId="d6ff2797858b0cb4" providerId="LiveId" clId="{B664A81A-579A-40E8-9DEF-D64BF217BE55}" dt="2026-09-16T12:07:31.732" v="136" actId="14100"/>
        <pc:sldMkLst>
          <pc:docMk/>
          <pc:sldMk cId="0" sldId="269"/>
        </pc:sldMkLst>
        <pc:spChg chg="mod">
          <ac:chgData name="Anshika Yadav" userId="d6ff2797858b0cb4" providerId="LiveId" clId="{B664A81A-579A-40E8-9DEF-D64BF217BE55}" dt="2026-09-01T11:14:19.338" v="21" actId="20577"/>
          <ac:spMkLst>
            <pc:docMk/>
            <pc:sldMk cId="0" sldId="269"/>
            <ac:spMk id="5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4:19.840" v="6" actId="107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4:23.577" v="7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Anshika Yadav" userId="d6ff2797858b0cb4" providerId="LiveId" clId="{B664A81A-579A-40E8-9DEF-D64BF217BE55}" dt="2026-09-16T12:07:31.732" v="136" actId="14100"/>
          <ac:spMkLst>
            <pc:docMk/>
            <pc:sldMk cId="0" sldId="269"/>
            <ac:spMk id="24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4:43.630" v="9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5:20.697" v="14" actId="107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5:07.291" v="11" actId="107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5:27.711" v="15" actId="107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Anshika Yadav" userId="d6ff2797858b0cb4" providerId="LiveId" clId="{B664A81A-579A-40E8-9DEF-D64BF217BE55}" dt="2026-09-01T09:55:34.542" v="16" actId="1076"/>
          <ac:spMkLst>
            <pc:docMk/>
            <pc:sldMk cId="0" sldId="269"/>
            <ac:spMk id="29" creationId="{00000000-0000-0000-0000-000000000000}"/>
          </ac:spMkLst>
        </pc:spChg>
      </pc:sldChg>
      <pc:sldChg chg="addSp delSp modSp mod modAnim">
        <pc:chgData name="Anshika Yadav" userId="d6ff2797858b0cb4" providerId="LiveId" clId="{B664A81A-579A-40E8-9DEF-D64BF217BE55}" dt="2026-09-16T12:02:44.247" v="134" actId="14100"/>
        <pc:sldMkLst>
          <pc:docMk/>
          <pc:sldMk cId="0" sldId="270"/>
        </pc:sldMkLst>
        <pc:spChg chg="mod">
          <ac:chgData name="Anshika Yadav" userId="d6ff2797858b0cb4" providerId="LiveId" clId="{B664A81A-579A-40E8-9DEF-D64BF217BE55}" dt="2026-09-16T12:02:30.156" v="132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Anshika Yadav" userId="d6ff2797858b0cb4" providerId="LiveId" clId="{B664A81A-579A-40E8-9DEF-D64BF217BE55}" dt="2026-09-05T20:11:55.492" v="66" actId="1076"/>
          <ac:spMkLst>
            <pc:docMk/>
            <pc:sldMk cId="0" sldId="270"/>
            <ac:spMk id="12" creationId="{B3AC2153-4DFA-A7DF-DC9A-CECD8A00FF2B}"/>
          </ac:spMkLst>
        </pc:spChg>
        <pc:spChg chg="mod">
          <ac:chgData name="Anshika Yadav" userId="d6ff2797858b0cb4" providerId="LiveId" clId="{B664A81A-579A-40E8-9DEF-D64BF217BE55}" dt="2026-09-05T20:12:07.531" v="68" actId="1076"/>
          <ac:spMkLst>
            <pc:docMk/>
            <pc:sldMk cId="0" sldId="270"/>
            <ac:spMk id="19" creationId="{71C0DECF-0CB6-E9B5-A7CA-C71C16AC8460}"/>
          </ac:spMkLst>
        </pc:spChg>
        <pc:picChg chg="mod">
          <ac:chgData name="Anshika Yadav" userId="d6ff2797858b0cb4" providerId="LiveId" clId="{B664A81A-579A-40E8-9DEF-D64BF217BE55}" dt="2026-09-05T19:54:42.986" v="22" actId="1076"/>
          <ac:picMkLst>
            <pc:docMk/>
            <pc:sldMk cId="0" sldId="270"/>
            <ac:picMk id="20" creationId="{00000000-0000-0000-0000-000000000000}"/>
          </ac:picMkLst>
        </pc:picChg>
        <pc:picChg chg="add mod">
          <ac:chgData name="Anshika Yadav" userId="d6ff2797858b0cb4" providerId="LiveId" clId="{B664A81A-579A-40E8-9DEF-D64BF217BE55}" dt="2026-09-16T12:02:35.684" v="133" actId="14100"/>
          <ac:picMkLst>
            <pc:docMk/>
            <pc:sldMk cId="0" sldId="270"/>
            <ac:picMk id="21" creationId="{C0DEAD01-BBA1-2E4A-45CD-4ECA32C28444}"/>
          </ac:picMkLst>
        </pc:picChg>
        <pc:picChg chg="add mod">
          <ac:chgData name="Anshika Yadav" userId="d6ff2797858b0cb4" providerId="LiveId" clId="{B664A81A-579A-40E8-9DEF-D64BF217BE55}" dt="2026-09-16T12:02:44.247" v="134" actId="14100"/>
          <ac:picMkLst>
            <pc:docMk/>
            <pc:sldMk cId="0" sldId="270"/>
            <ac:picMk id="23" creationId="{0E6B2C1D-3FEC-1569-2C2E-97CB0017D4D6}"/>
          </ac:picMkLst>
        </pc:picChg>
        <pc:picChg chg="add mod">
          <ac:chgData name="Anshika Yadav" userId="d6ff2797858b0cb4" providerId="LiveId" clId="{B664A81A-579A-40E8-9DEF-D64BF217BE55}" dt="2026-09-16T12:01:58.373" v="125" actId="14100"/>
          <ac:picMkLst>
            <pc:docMk/>
            <pc:sldMk cId="0" sldId="270"/>
            <ac:picMk id="29" creationId="{8B0113FB-FCF8-8CCA-3814-E923131586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github.com/Lalitha-2824/SMART-URBAN-MOBILITY-AND-TRAFFIC-INTELLIGENCE-DASHBOARD-GROUP-1.github.io/tree/main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658368"/>
            <a:ext cx="128016" cy="128016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0392" y="658368"/>
            <a:ext cx="128016" cy="128016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0704" y="658368"/>
            <a:ext cx="128016" cy="128016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URBAN 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DBE6F1"/>
                </a:solidFill>
                <a:latin typeface="Aptos"/>
              </a:rPr>
              <a:t>Smart Urban Mobility &amp; Traffic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Infosys _Smart Urban Mobility and Traffic Intelligence Dashboard Group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309" y="3931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BCCDDD"/>
                </a:solidFill>
                <a:latin typeface="Aptos"/>
              </a:rPr>
              <a:t>Bengaluru  •  Multimodal Analytics  •  ETL  •  MySQL  •  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846320"/>
            <a:ext cx="18288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WAREHUSE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846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80760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dirty="0">
                <a:solidFill>
                  <a:srgbClr val="BCCDDD"/>
                </a:solidFill>
                <a:latin typeface="Aptos"/>
              </a:rPr>
              <a:t> </a:t>
            </a:r>
            <a:endParaRPr sz="1200" b="0" dirty="0">
              <a:solidFill>
                <a:srgbClr val="BCCDDD"/>
              </a:solidFill>
              <a:latin typeface="Apto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748B828-4CE4-5287-A1BF-9A78B3347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114" y="555782"/>
            <a:ext cx="2114006" cy="1593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22B49"/>
                </a:solidFill>
                <a:latin typeface="Aptos"/>
              </a:rPr>
              <a:t>Team Roles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5E6A77"/>
                </a:solidFill>
                <a:latin typeface="Aptos"/>
              </a:rPr>
              <a:t>Clear ownership across engineering, analytics and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9074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300" b="1" dirty="0">
                <a:solidFill>
                  <a:srgbClr val="5E6A77"/>
                </a:solidFill>
                <a:latin typeface="Aptos"/>
              </a:rPr>
              <a:t>02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8580" cy="10789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Abhishek Yadav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Data Engineer
ETL • Data Warehouse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68580" cy="10789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Afsha Shaik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3911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Geospatial Analyst
Maps • spatial analysis •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743200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743200"/>
            <a:ext cx="68580" cy="10789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Anubha Mittal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64992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Micromobility &amp; Equity Analyst
Cycling • MAI • accessibility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069" y="2722465"/>
            <a:ext cx="5166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5790" y="2718000"/>
            <a:ext cx="68580" cy="1078992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2001" y="2791778"/>
            <a:ext cx="47042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Bysani Sree Lalitha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257496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BI Lead / Project Manager
Dashboard integration • coordination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8789" y="4178999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4209695"/>
            <a:ext cx="68580" cy="1078992"/>
          </a:xfrm>
          <a:prstGeom prst="rect">
            <a:avLst/>
          </a:prstGeom>
          <a:solidFill>
            <a:srgbClr val="12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" y="4231475"/>
            <a:ext cx="4754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22B49"/>
                </a:solidFill>
                <a:latin typeface="Aptos"/>
              </a:rPr>
              <a:t>All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16738"/>
            <a:ext cx="47548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E6A77"/>
                </a:solidFill>
                <a:latin typeface="Aptos"/>
              </a:rPr>
              <a:t>Cross-functional
Validation • testing • final delivery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69280"/>
            <a:ext cx="91440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19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687568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99D9D"/>
                </a:solidFill>
                <a:latin typeface="Aptos"/>
              </a:rPr>
              <a:t>Python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5669280"/>
            <a:ext cx="91440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347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74519" y="5687568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47CD3"/>
                </a:solidFill>
                <a:latin typeface="Aptos"/>
              </a:rPr>
              <a:t>Pandas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43350" y="5687568"/>
            <a:ext cx="91440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EF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86200" y="5741997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EF8569"/>
                </a:solidFill>
                <a:latin typeface="Aptos"/>
              </a:rPr>
              <a:t>MySQL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06341" y="5691051"/>
            <a:ext cx="100584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199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57750" y="5705856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199D9D"/>
                </a:solidFill>
                <a:latin typeface="Aptos"/>
              </a:rPr>
              <a:t>Power 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48940" y="5669280"/>
            <a:ext cx="82296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EF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34640" y="5705857"/>
            <a:ext cx="822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EF8569"/>
                </a:solidFill>
                <a:latin typeface="Aptos"/>
              </a:rPr>
              <a:t>APIs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Project Vision &amp;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E6A77"/>
                </a:solidFill>
                <a:latin typeface="Aptos"/>
              </a:rPr>
              <a:t>One analytics environment for understanding how Bengaluru moves.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3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8580" cy="425196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30175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Mobility data is fragmented across transit, ride-hailing, cycling, weather, traffic and demographic sources. Without standardization, cross-modal analysis is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8580" cy="425196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21992"/>
            <a:ext cx="3017520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Urban Pulse integrates multimodal datasets into a common data model, then exposes operational and strategic insights through Power BI.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4290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68580" cy="425196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21992"/>
            <a:ext cx="30175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Stakeholders can monitor demand, reliability, accessibility, mobility equity, bottlenecks and future mobility trends in one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6080760"/>
            <a:ext cx="4023360" cy="329184"/>
          </a:xfrm>
          <a:prstGeom prst="roundRect">
            <a:avLst/>
          </a:prstGeom>
          <a:solidFill>
            <a:srgbClr val="EBF7F7"/>
          </a:solidFill>
          <a:ln w="10160">
            <a:solidFill>
              <a:srgbClr val="347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69080" y="6099048"/>
            <a:ext cx="4023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IN" sz="1000" b="1" dirty="0">
                <a:solidFill>
                  <a:srgbClr val="347CD3"/>
                </a:solidFill>
                <a:latin typeface="Aptos"/>
              </a:rPr>
              <a:t>Bengaluru • Multimodal • Decision Support</a:t>
            </a:r>
            <a:endParaRPr sz="1000" b="1" dirty="0">
              <a:solidFill>
                <a:srgbClr val="347CD3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68580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0" dirty="0">
                <a:solidFill>
                  <a:srgbClr val="5E6A77"/>
                </a:solidFill>
                <a:latin typeface="Aptos"/>
              </a:rPr>
              <a:t> </a:t>
            </a:r>
            <a:endParaRPr sz="850" b="0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Objectives &amp; Key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What the platform is designed to deliver.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4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8580" cy="18288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05740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1" dirty="0">
                <a:solidFill>
                  <a:srgbClr val="122B49"/>
                </a:solidFill>
                <a:latin typeface="Aptos"/>
              </a:rPr>
              <a:t>M</a:t>
            </a:r>
            <a:r>
              <a:rPr sz="1250" b="1" dirty="0">
                <a:solidFill>
                  <a:srgbClr val="122B49"/>
                </a:solidFill>
                <a:latin typeface="Aptos"/>
              </a:rPr>
              <a:t>obility data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205740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E6A77"/>
                </a:solidFill>
                <a:latin typeface="Aptos"/>
              </a:rPr>
              <a:t>Transit, ride-hailing, bike-sharing, weather, traffic and demographics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68580" cy="18288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67712"/>
            <a:ext cx="205740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1" dirty="0">
                <a:solidFill>
                  <a:srgbClr val="122B49"/>
                </a:solidFill>
                <a:latin typeface="Aptos"/>
              </a:rPr>
              <a:t>I</a:t>
            </a:r>
            <a:r>
              <a:rPr sz="1250" b="1" dirty="0">
                <a:solidFill>
                  <a:srgbClr val="122B49"/>
                </a:solidFill>
                <a:latin typeface="Aptos"/>
              </a:rPr>
              <a:t>ntegrated analytics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87752"/>
            <a:ext cx="205740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en-US" sz="1100" b="0" dirty="0">
              <a:solidFill>
                <a:srgbClr val="5E6A77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5E6A77"/>
                </a:solidFill>
                <a:latin typeface="Aptos"/>
              </a:rPr>
              <a:t>Standardized data model for cross-modal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68580" cy="18288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MAI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67712"/>
            <a:ext cx="205740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1" dirty="0">
                <a:solidFill>
                  <a:srgbClr val="122B49"/>
                </a:solidFill>
                <a:latin typeface="Aptos"/>
              </a:rPr>
              <a:t>M</a:t>
            </a:r>
            <a:r>
              <a:rPr sz="1250" b="1" dirty="0">
                <a:solidFill>
                  <a:srgbClr val="122B49"/>
                </a:solidFill>
                <a:latin typeface="Aptos"/>
              </a:rPr>
              <a:t>obility equity indicator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87752"/>
            <a:ext cx="20574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E6A77"/>
                </a:solidFill>
                <a:latin typeface="Aptos"/>
              </a:rPr>
              <a:t>Compare access and identify mobility gaps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60020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59" y="1600200"/>
            <a:ext cx="68580" cy="18288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59" y="17647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CMHS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267712"/>
            <a:ext cx="205740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50" b="1" dirty="0">
                <a:solidFill>
                  <a:srgbClr val="122B49"/>
                </a:solidFill>
                <a:latin typeface="Aptos"/>
              </a:rPr>
              <a:t>C</a:t>
            </a:r>
            <a:r>
              <a:rPr sz="1250" b="1" dirty="0">
                <a:solidFill>
                  <a:srgbClr val="122B49"/>
                </a:solidFill>
                <a:latin typeface="Aptos"/>
              </a:rPr>
              <a:t>ity </a:t>
            </a:r>
            <a:r>
              <a:rPr lang="en-US" sz="1250" b="1" dirty="0">
                <a:solidFill>
                  <a:srgbClr val="122B49"/>
                </a:solidFill>
                <a:latin typeface="Aptos"/>
              </a:rPr>
              <a:t>M</a:t>
            </a:r>
            <a:r>
              <a:rPr sz="1250" b="1" dirty="0">
                <a:solidFill>
                  <a:srgbClr val="122B49"/>
                </a:solidFill>
                <a:latin typeface="Aptos"/>
              </a:rPr>
              <a:t>obility </a:t>
            </a:r>
            <a:r>
              <a:rPr lang="en-US" sz="1250" b="1" dirty="0">
                <a:solidFill>
                  <a:srgbClr val="122B49"/>
                </a:solidFill>
                <a:latin typeface="Aptos"/>
              </a:rPr>
              <a:t>H</a:t>
            </a:r>
            <a:r>
              <a:rPr sz="1250" b="1" dirty="0">
                <a:solidFill>
                  <a:srgbClr val="122B49"/>
                </a:solidFill>
                <a:latin typeface="Aptos"/>
              </a:rPr>
              <a:t>ealth </a:t>
            </a:r>
            <a:r>
              <a:rPr lang="en-US" sz="1250" b="1" dirty="0">
                <a:solidFill>
                  <a:srgbClr val="122B49"/>
                </a:solidFill>
                <a:latin typeface="Aptos"/>
              </a:rPr>
              <a:t>s</a:t>
            </a:r>
            <a:r>
              <a:rPr sz="1250" b="1" dirty="0">
                <a:solidFill>
                  <a:srgbClr val="122B49"/>
                </a:solidFill>
                <a:latin typeface="Aptos"/>
              </a:rPr>
              <a:t>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587752"/>
            <a:ext cx="20574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E6A77"/>
                </a:solidFill>
                <a:latin typeface="Aptos"/>
              </a:rPr>
              <a:t>Executive-level view of overall mobility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 dirty="0">
                <a:solidFill>
                  <a:srgbClr val="199D9D"/>
                </a:solidFill>
                <a:latin typeface="Aptos"/>
              </a:rPr>
              <a:t>• </a:t>
            </a:r>
            <a:r>
              <a:rPr sz="1600" dirty="0">
                <a:solidFill>
                  <a:srgbClr val="222B36"/>
                </a:solidFill>
                <a:latin typeface="Aptos"/>
              </a:rPr>
              <a:t>Standardize timestamps, identifiers and schemas through repeatable ETL.</a:t>
            </a: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99D9D"/>
                </a:solidFill>
                <a:latin typeface="Aptos"/>
              </a:rPr>
              <a:t>• </a:t>
            </a:r>
            <a:r>
              <a:rPr sz="1600" dirty="0">
                <a:solidFill>
                  <a:srgbClr val="222B36"/>
                </a:solidFill>
                <a:latin typeface="Aptos"/>
              </a:rPr>
              <a:t>Create a star-schema warehouse and validated Power BI semantic model.</a:t>
            </a: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99D9D"/>
                </a:solidFill>
                <a:latin typeface="Aptos"/>
              </a:rPr>
              <a:t>• </a:t>
            </a:r>
            <a:r>
              <a:rPr sz="1600" dirty="0">
                <a:solidFill>
                  <a:srgbClr val="222B36"/>
                </a:solidFill>
                <a:latin typeface="Aptos"/>
              </a:rPr>
              <a:t>Enable geospatial, performance, demand, equity and executive analytics.</a:t>
            </a:r>
          </a:p>
          <a:p>
            <a:pPr>
              <a:spcAft>
                <a:spcPts val="700"/>
              </a:spcAft>
            </a:pPr>
            <a:r>
              <a:rPr sz="1600" b="1" dirty="0">
                <a:solidFill>
                  <a:srgbClr val="199D9D"/>
                </a:solidFill>
                <a:latin typeface="Aptos"/>
              </a:rPr>
              <a:t>• </a:t>
            </a:r>
            <a:r>
              <a:rPr sz="1600" dirty="0">
                <a:solidFill>
                  <a:srgbClr val="222B36"/>
                </a:solidFill>
                <a:latin typeface="Aptos"/>
              </a:rPr>
              <a:t>Support forecasting and anomaly detection for future mobility planning.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68580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0" dirty="0">
                <a:solidFill>
                  <a:srgbClr val="5E6A77"/>
                </a:solidFill>
                <a:latin typeface="Aptos"/>
              </a:rPr>
              <a:t> </a:t>
            </a:r>
            <a:endParaRPr sz="850" b="0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Data Sources &amp; Acquisition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Public and open mobility data combined into a unified Bengaluru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5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Public Transit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BMTC / GTFS feed
Routes • stops • trips • stop times •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Ride-Hailing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Open City / open mobility data
Demand • pickup/drop-off • trip-level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7180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9718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1546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Bike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9359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Open City / open mobility data
Station usage • trip activity • availability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9718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9359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Open-</a:t>
            </a:r>
            <a:r>
              <a:rPr sz="1400" b="0" dirty="0" err="1">
                <a:solidFill>
                  <a:srgbClr val="5E6A77"/>
                </a:solidFill>
                <a:latin typeface="Aptos"/>
              </a:rPr>
              <a:t>Meteo</a:t>
            </a:r>
            <a:r>
              <a:rPr sz="1400" b="0" dirty="0">
                <a:solidFill>
                  <a:srgbClr val="5E6A77"/>
                </a:solidFill>
                <a:latin typeface="Aptos"/>
              </a:rPr>
              <a:t> API
Temperature • rainfall • humidity • wind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8912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38912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Traffic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Traffic / mobility dataset
Traffic volume • congestion indicators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89120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38912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5720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Demographics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10912"/>
            <a:ext cx="4663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>
                <a:solidFill>
                  <a:srgbClr val="5E6A77"/>
                </a:solidFill>
                <a:latin typeface="Aptos"/>
              </a:rPr>
              <a:t>Open city urban data portal</a:t>
            </a:r>
            <a:r>
              <a:rPr sz="1400" b="0" dirty="0">
                <a:solidFill>
                  <a:srgbClr val="5E6A77"/>
                </a:solidFill>
                <a:latin typeface="Aptos"/>
              </a:rPr>
              <a:t>
Population • neighborhood-level indicators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8580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50" b="0" dirty="0">
                <a:solidFill>
                  <a:srgbClr val="5E6A77"/>
                </a:solidFill>
                <a:latin typeface="Aptos"/>
              </a:rPr>
              <a:t> </a:t>
            </a:r>
            <a:endParaRPr sz="850" b="0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22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ETL &amp; Data-Warehouse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722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722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From raw mobility files to a connected Power BI analytics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282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6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434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" y="1920240"/>
            <a:ext cx="68580" cy="164592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RAW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GTFS • CSV •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6020" y="2743200"/>
            <a:ext cx="256032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6606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66060" y="1920240"/>
            <a:ext cx="68580" cy="164592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466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466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Python + Pandas
File/API ingestion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77740" y="2743200"/>
            <a:ext cx="256032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9778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97780" y="1920240"/>
            <a:ext cx="68580" cy="164592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2638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638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Cleaning • standardization
Validation • timestamps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09460" y="2743200"/>
            <a:ext cx="256031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29500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29500" y="1920240"/>
            <a:ext cx="68580" cy="164592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8100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8100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MySQL warehouse
Structured tables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41180" y="2743200"/>
            <a:ext cx="256032" cy="0"/>
          </a:xfrm>
          <a:prstGeom prst="line">
            <a:avLst/>
          </a:prstGeom>
          <a:ln w="21590">
            <a:solidFill>
              <a:srgbClr val="5E6A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61219" y="1920240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61219" y="1920240"/>
            <a:ext cx="68580" cy="164592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89819" y="21031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ANALYZE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9819" y="2542032"/>
            <a:ext cx="16002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Power BI
KPIs • maps • trends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7260" y="420624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6586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Repeatable ETL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5860" y="4828031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Reusable scripts reduce manual CSV handling and support refresh.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4914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49140" y="420624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7774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Warehouse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7740" y="4828031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MySQL provides a centralized, queryable and joinable source of truth.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6102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61020" y="420624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89620" y="4389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BI-ready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9620" y="4828031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Power BI reads the prepared model for interactive analytics.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562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44" name="Picture 4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Data Model &amp; Star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Fact tables capture mobility events; dimensions provide reusable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7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50" name="Picture 4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4C5164-F528-4078-6198-D37C98A38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09304"/>
            <a:ext cx="11506200" cy="51841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1 — Data Acquisition &amp;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0283" y="1078992"/>
            <a:ext cx="104241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E6A77"/>
                </a:solidFill>
                <a:latin typeface="Aptos"/>
              </a:rPr>
              <a:t>Foundation layer: collect, standardize, validate and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8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799" y="1594180"/>
            <a:ext cx="4663440" cy="42488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951154"/>
            <a:ext cx="91439" cy="3507814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251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425195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Collect mobility data from multiple sources, standardize schemas and timestamps, validate quality, and load the prepared data into MySQL for Power BI.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55448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0" y="1554480"/>
            <a:ext cx="68580" cy="96012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171907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221991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Data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55448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1554480"/>
            <a:ext cx="68580" cy="96012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171907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221991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Ride-hailing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278892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0" y="2788920"/>
            <a:ext cx="68580" cy="96012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295351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17K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45643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Bike-share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78892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0" y="2788920"/>
            <a:ext cx="68580" cy="96012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41080" y="295351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9K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45643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Transit records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402336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0" y="4023360"/>
            <a:ext cx="68580" cy="96012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97880" y="4187952"/>
            <a:ext cx="20116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1K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69087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Weather 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5257800"/>
            <a:ext cx="3322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5257799"/>
            <a:ext cx="68580" cy="914397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09310" y="545896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Quality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879592"/>
            <a:ext cx="47548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Row count • NULL • min/max • relationships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2 — Geospatial Mobility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Where mobility happens: coverage, OD flows and hotspots.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0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9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749039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337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33755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Use latitude/longitude, wards, stops and routes to understand demand concentration, service coverage, mobility corridors and congestion hotspots.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554480"/>
            <a:ext cx="6903720" cy="2743200"/>
          </a:xfrm>
          <a:prstGeom prst="roundRect">
            <a:avLst/>
          </a:prstGeom>
          <a:solidFill>
            <a:srgbClr val="EBF0F5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5029200" y="2103120"/>
            <a:ext cx="5852160" cy="1463040"/>
          </a:xfrm>
          <a:prstGeom prst="line">
            <a:avLst/>
          </a:prstGeom>
          <a:ln w="25400">
            <a:solidFill>
              <a:srgbClr val="C6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486400" y="1828800"/>
            <a:ext cx="4846320" cy="1920239"/>
          </a:xfrm>
          <a:prstGeom prst="line">
            <a:avLst/>
          </a:prstGeom>
          <a:ln w="25400">
            <a:solidFill>
              <a:srgbClr val="C6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1737360"/>
            <a:ext cx="2286000" cy="2377440"/>
          </a:xfrm>
          <a:prstGeom prst="line">
            <a:avLst/>
          </a:prstGeom>
          <a:ln w="25400">
            <a:solidFill>
              <a:srgbClr val="C6D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92240" y="2834640"/>
            <a:ext cx="228600" cy="228600"/>
          </a:xfrm>
          <a:prstGeom prst="ellipse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0" y="3154680"/>
            <a:ext cx="310896" cy="310896"/>
          </a:xfrm>
          <a:prstGeom prst="ellipse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2651760"/>
            <a:ext cx="201168" cy="201168"/>
          </a:xfrm>
          <a:prstGeom prst="ellipse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440" y="3246120"/>
            <a:ext cx="274320" cy="274320"/>
          </a:xfrm>
          <a:prstGeom prst="ellipse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0" y="2468880"/>
            <a:ext cx="182880" cy="182880"/>
          </a:xfrm>
          <a:prstGeom prst="ellipse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44165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E6A77"/>
                </a:solidFill>
                <a:latin typeface="Aptos"/>
              </a:rPr>
              <a:t>Illustrative OD / hotspot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8006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3440" y="4800600"/>
            <a:ext cx="68580" cy="105156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4983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167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422392"/>
            <a:ext cx="164592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Trips in selected 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48006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95160" y="4800600"/>
            <a:ext cx="68580" cy="105156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4983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136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422392"/>
            <a:ext cx="164592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Routes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480060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26880" y="4800600"/>
            <a:ext cx="68580" cy="105156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55480" y="49834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498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5422392"/>
            <a:ext cx="1645920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Stops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4" name="Picture 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3 — Transit Performance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How public transit performs.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300" b="1" dirty="0">
                <a:solidFill>
                  <a:srgbClr val="5E6A77"/>
                </a:solidFill>
                <a:latin typeface="Aptos"/>
              </a:rPr>
              <a:t>10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Measure route reliability, schedule adherence, headway behavior, stop activity and service performance using GTFS trips and stop-time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136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498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stops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167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trips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14K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Incident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572000"/>
            <a:ext cx="6858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4572000"/>
            <a:ext cx="68580" cy="123444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193792"/>
            <a:ext cx="64465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E6A77"/>
                </a:solidFill>
                <a:latin typeface="Aptos"/>
              </a:rPr>
              <a:t>Identify weak routes • compare route performance • detect service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4 — Ride-Hailing &amp; Demand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Understanding on-demand mobility.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1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Analyze pickup/drop-off demand, time-of-day patterns, fare/surge indicators and the relationship between ride-hailing and public transit.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59M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37M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Completed trips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22M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Cancelled trips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31.37%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Conversion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7804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b="1" dirty="0">
                <a:solidFill>
                  <a:srgbClr val="734EAA"/>
                </a:solidFill>
                <a:latin typeface="Aptos"/>
              </a:rPr>
              <a:t>₹</a:t>
            </a:r>
            <a:r>
              <a:rPr sz="2400" b="1" dirty="0">
                <a:solidFill>
                  <a:srgbClr val="734EAA"/>
                </a:solidFill>
                <a:latin typeface="Aptos"/>
              </a:rPr>
              <a:t>132.07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Average fare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572000"/>
            <a:ext cx="6858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45720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193792"/>
            <a:ext cx="6446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Plan capacity around peaks • identify high-demand zones • explore modal substitution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5246" y="40582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5 — Cycling &amp; Micromobility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First/last-mile mobility.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2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Track bike-share utilization and station activity, identify imbalance, and assess how micromobility complements the broader transport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89.824K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bike trips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Active stations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43.7%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Avg. station utilization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9.12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Avg. available bikes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1752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7804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8.78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Avg. trip duration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4572000"/>
            <a:ext cx="6858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17720" y="457200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193792"/>
            <a:ext cx="6446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Find high-use stations • flag rebalancing needs • measure micromobility adoption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6" name="Picture 3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6 — Mobility Equity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E6A77"/>
                </a:solidFill>
                <a:latin typeface="Aptos"/>
              </a:rPr>
              <a:t>Access for every neighborhood.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3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Calculate the Mobility Access Index (MAI), compare accessibility across geographic and demographic groups, and highlight underserved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population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76479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58.94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67712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Average MAI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11.91K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Population density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1752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3182112"/>
            <a:ext cx="2606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685031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Well-served constituencies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4572000"/>
            <a:ext cx="6858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45720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4754880"/>
            <a:ext cx="6446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9"/>
                </a:solidFill>
                <a:latin typeface="Aptos"/>
              </a:rPr>
              <a:t>Decision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193792"/>
            <a:ext cx="6446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E6A77"/>
                </a:solidFill>
                <a:latin typeface="Aptos"/>
              </a:rPr>
              <a:t>Prioritize investment • compare access disparities • support equitable mobility planning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B49"/>
                </a:solidFill>
                <a:latin typeface="Aptos"/>
              </a:rPr>
              <a:t>Module 7 — Executive Intelligence &amp;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914400" cy="50292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E6A77"/>
                </a:solidFill>
                <a:latin typeface="Aptos"/>
              </a:rPr>
              <a:t>From insight 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dirty="0">
                <a:solidFill>
                  <a:srgbClr val="5E6A77"/>
                </a:solidFill>
                <a:latin typeface="Aptos"/>
              </a:rPr>
              <a:t>1</a:t>
            </a:r>
            <a:r>
              <a:rPr lang="en-US" sz="1300" b="1" dirty="0">
                <a:solidFill>
                  <a:srgbClr val="5E6A77"/>
                </a:solidFill>
                <a:latin typeface="Aptos"/>
              </a:rPr>
              <a:t>4</a:t>
            </a:r>
            <a:endParaRPr sz="1300" b="1" dirty="0">
              <a:solidFill>
                <a:srgbClr val="5E6A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657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68580" cy="443484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22B49"/>
                </a:solidFill>
                <a:latin typeface="Aptos"/>
              </a:rPr>
              <a:t>What this module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32461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Historical trends, anomaly monitoring and forecasting-oriented analysis support forward-looking mobility planning.</a:t>
            </a:r>
            <a:endParaRPr sz="1400" b="0" dirty="0">
              <a:solidFill>
                <a:srgbClr val="5E6A77"/>
              </a:solidFill>
              <a:latin typeface="Aptos" panose="020B00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17720" y="1600200"/>
            <a:ext cx="68580" cy="1143000"/>
          </a:xfrm>
          <a:prstGeom prst="rect">
            <a:avLst/>
          </a:prstGeom>
          <a:solidFill>
            <a:srgbClr val="EF8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8569"/>
                </a:solidFill>
                <a:latin typeface="Aptos"/>
              </a:rPr>
              <a:t>59M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bookings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1600200"/>
            <a:ext cx="68580" cy="1143000"/>
          </a:xfrm>
          <a:prstGeom prst="rect">
            <a:avLst/>
          </a:prstGeom>
          <a:solidFill>
            <a:srgbClr val="347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7CD3"/>
                </a:solidFill>
                <a:latin typeface="Aptos"/>
              </a:rPr>
              <a:t>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Total traffic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160020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59" y="1600200"/>
            <a:ext cx="68580" cy="1143000"/>
          </a:xfrm>
          <a:prstGeom prst="rect">
            <a:avLst/>
          </a:prstGeom>
          <a:solidFill>
            <a:srgbClr val="19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17647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99D9D"/>
                </a:solidFill>
                <a:latin typeface="Aptos"/>
              </a:rPr>
              <a:t>0.31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67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Conversion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17720" y="3017520"/>
            <a:ext cx="68580" cy="1143000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34EAA"/>
                </a:solidFill>
                <a:latin typeface="Aptos"/>
              </a:rPr>
              <a:t>39.45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Average speed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30175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0" y="3017520"/>
            <a:ext cx="68580" cy="1143000"/>
          </a:xfrm>
          <a:prstGeom prst="rect">
            <a:avLst/>
          </a:prstGeom>
          <a:solidFill>
            <a:srgbClr val="26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78040" y="318211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6A66E"/>
                </a:solidFill>
                <a:latin typeface="Aptos"/>
              </a:rPr>
              <a:t>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68503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9"/>
                </a:solidFill>
                <a:latin typeface="Aptos"/>
              </a:rPr>
              <a:t>Mobility Health Score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937760" y="4983480"/>
            <a:ext cx="731520" cy="22860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69280" y="4983480"/>
            <a:ext cx="731520" cy="9144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400800" y="4709160"/>
            <a:ext cx="731520" cy="36576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32320" y="4709160"/>
            <a:ext cx="731520" cy="18288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63840" y="4434840"/>
            <a:ext cx="731520" cy="45720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95360" y="4434840"/>
            <a:ext cx="731520" cy="13716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326880" y="4160520"/>
            <a:ext cx="731520" cy="411480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58400" y="3977639"/>
            <a:ext cx="731520" cy="182881"/>
          </a:xfrm>
          <a:prstGeom prst="line">
            <a:avLst/>
          </a:prstGeom>
          <a:ln w="31750">
            <a:solidFill>
              <a:srgbClr val="347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00600" y="548640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5E6A77"/>
                </a:solidFill>
                <a:latin typeface="Aptos"/>
              </a:rPr>
              <a:t>Historical trend → forecast → anomaly alert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720090"/>
            <a:ext cx="792480" cy="5971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22B49"/>
                </a:solidFill>
                <a:latin typeface="Aptos"/>
              </a:rPr>
              <a:t>Dashboard Showcase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71075"/>
            <a:ext cx="914400" cy="50292"/>
          </a:xfrm>
          <a:prstGeom prst="rect">
            <a:avLst/>
          </a:prstGeom>
          <a:solidFill>
            <a:srgbClr val="734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5E6A77"/>
                </a:solidFill>
                <a:latin typeface="Apto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5105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E6A77"/>
                </a:solidFill>
                <a:latin typeface="Aptos"/>
              </a:rPr>
              <a:t>Group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AC2153-4DFA-A7DF-DC9A-CECD8A00FF2B}"/>
              </a:ext>
            </a:extLst>
          </p:cNvPr>
          <p:cNvSpPr txBox="1"/>
          <p:nvPr/>
        </p:nvSpPr>
        <p:spPr>
          <a:xfrm>
            <a:off x="7848598" y="4556260"/>
            <a:ext cx="2481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Team </a:t>
            </a:r>
            <a:r>
              <a:rPr lang="en-US" dirty="0">
                <a:hlinkClick r:id="rId2"/>
              </a:rPr>
              <a:t>Github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0DECF-0CB6-E9B5-A7CA-C71C16AC8460}"/>
              </a:ext>
            </a:extLst>
          </p:cNvPr>
          <p:cNvSpPr txBox="1"/>
          <p:nvPr/>
        </p:nvSpPr>
        <p:spPr>
          <a:xfrm>
            <a:off x="8343897" y="5232803"/>
            <a:ext cx="1491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Thank You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268332"/>
            <a:ext cx="792480" cy="5971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DEAD01-BBA1-2E4A-45CD-4ECA32C28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76" y="1002684"/>
            <a:ext cx="5634825" cy="28689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E6B2C1D-3FEC-1569-2C2E-97CB0017D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665" y="1002683"/>
            <a:ext cx="5471159" cy="286893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B0113FB-FCF8-8CCA-3814-E923131586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76" y="3995057"/>
            <a:ext cx="5634824" cy="2745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1037</Words>
  <Application>Microsoft Office PowerPoint</Application>
  <PresentationFormat>Widescreen</PresentationFormat>
  <Paragraphs>224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Anshika Yadav</dc:creator>
  <cp:keywords/>
  <dc:description>generated using python-pptx</dc:description>
  <cp:lastModifiedBy>Anshika Yadav</cp:lastModifiedBy>
  <cp:revision>4</cp:revision>
  <dcterms:created xsi:type="dcterms:W3CDTF">2013-01-27T09:14:16Z</dcterms:created>
  <dcterms:modified xsi:type="dcterms:W3CDTF">2026-09-16T18:29:54Z</dcterms:modified>
  <cp:category/>
</cp:coreProperties>
</file>